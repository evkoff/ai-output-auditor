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g43645_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g43645_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[8 sec]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Hi, I am Evgeniya. My project is an AI hallucination detector, it asks one question: did the AI invent the answer?</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g43645_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pg43645_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[30 sec]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give a document to an AI, and ask for a summary or ask a question about it. The answer sounds right. Checking it means reading the whole document — the work you do not have time for.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numbers come from a public leaderboard: the standard ChatGPT, Gemini and Claude get a fact wrong in 6 to 12 percent of answers, and the pro versions are worse.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Courts have logged 2,095 filings with citations that do not exist. 57 of them in Israel.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g47817_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g47817_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[25 sec]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I built a tool. One verdict — is thе answer supported by your document?</a:t>
            </a:r>
            <a:br>
              <a:rPr lang="en"/>
            </a:br>
            <a:r>
              <a:rPr lang="en"/>
              <a:t>I built 3 methods to answer this and compared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Text similarity encodes each text separately and measures the angle between the vectors.</a:t>
            </a:r>
            <a:endParaRPr/>
          </a:p>
          <a:p>
            <a:pPr indent="0" lvl="0" marL="0" rtl="0" algn="l">
              <a:spcBef>
                <a:spcPts val="0"/>
              </a:spcBef>
              <a:spcAft>
                <a:spcPts val="0"/>
              </a:spcAft>
              <a:buNone/>
            </a:pPr>
            <a:r>
              <a:rPr lang="en"/>
              <a:t>Entailment — natural language inference, the classic NLP task — asks whether the answer follows from the document. That is the Hughes Hallucination Evaluation Model.</a:t>
            </a:r>
            <a:br>
              <a:rPr lang="en"/>
            </a:br>
            <a:r>
              <a:rPr lang="en"/>
              <a:t>And the third I call an AI judge. It is a general-purpose language model. I give it both texts and one instruction: say whether the answer holds, and name what does not. That is gpt-oss-120b, OpenAI's open-weight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product is built for one person with a document that matters — a contract, a medical article.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g43645_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pg43645_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sec — cut this slide first if you are running long.]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the stack. Three models, nothing trained from scratch — Python, Gradio, HuggingFace, Groq.</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data - public dataset, HalluEval.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g43645_0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pg43645_0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[75 sec — LIVE. Two examples, two presses. The lines in quotes are what you say; the rest is what you do.]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 will show you what the product looks like: two texts, one verdict.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1. Switch to the Space, tab Check an answer.</a:t>
            </a:r>
            <a:endParaRPr/>
          </a:p>
          <a:p>
            <a:pPr indent="0" lvl="0" marL="0" rtl="0" algn="l">
              <a:spcBef>
                <a:spcPts val="0"/>
              </a:spcBef>
              <a:spcAft>
                <a:spcPts val="0"/>
              </a:spcAft>
              <a:buNone/>
            </a:pPr>
            <a:r>
              <a:rPr lang="en"/>
              <a:t>   “You give your document, and the answer the AI gave you. Any document, up to ten thousand characters — English only, and it checks grounding: if your source is wrong, the tool will not notice.”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 Click the example: Fire at a GE plant.</a:t>
            </a:r>
            <a:endParaRPr/>
          </a:p>
          <a:p>
            <a:pPr indent="0" lvl="0" marL="0" rtl="0" algn="l">
              <a:spcBef>
                <a:spcPts val="0"/>
              </a:spcBef>
              <a:spcAft>
                <a:spcPts val="0"/>
              </a:spcAft>
              <a:buNone/>
            </a:pPr>
            <a:r>
              <a:rPr lang="en"/>
              <a:t>   “A CNN news report, and a summary of it that was generated as a hallucination on purpose — both from HaluEval, a public labelled dataset.”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3. Press Check the answer.</a:t>
            </a:r>
            <a:endParaRPr/>
          </a:p>
          <a:p>
            <a:pPr indent="0" lvl="0" marL="0" rtl="0" algn="l">
              <a:spcBef>
                <a:spcPts val="0"/>
              </a:spcBef>
              <a:spcAft>
                <a:spcPts val="0"/>
              </a:spcAft>
              <a:buNone/>
            </a:pPr>
            <a:r>
              <a:rPr lang="en"/>
              <a:t>   “Press check.”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4. The verdict appears.</a:t>
            </a:r>
            <a:endParaRPr/>
          </a:p>
          <a:p>
            <a:pPr indent="0" lvl="0" marL="0" rtl="0" algn="l">
              <a:spcBef>
                <a:spcPts val="0"/>
              </a:spcBef>
              <a:spcAft>
                <a:spcPts val="0"/>
              </a:spcAft>
              <a:buNone/>
            </a:pPr>
            <a:r>
              <a:rPr lang="en"/>
              <a:t>   “Not supported by your source.”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5. Point at What the AI flagged.</a:t>
            </a:r>
            <a:endParaRPr/>
          </a:p>
          <a:p>
            <a:pPr indent="0" lvl="0" marL="0" rtl="0" algn="l">
              <a:spcBef>
                <a:spcPts val="0"/>
              </a:spcBef>
              <a:spcAft>
                <a:spcPts val="0"/>
              </a:spcAft>
              <a:buNone/>
            </a:pPr>
            <a:r>
              <a:rPr lang="en"/>
              <a:t>   “And here is why. The answer gives a cause for the fire. The article never gives 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6. Scroll to the three-method table.</a:t>
            </a:r>
            <a:endParaRPr/>
          </a:p>
          <a:p>
            <a:pPr indent="0" lvl="0" marL="0" rtl="0" algn="l">
              <a:spcBef>
                <a:spcPts val="0"/>
              </a:spcBef>
              <a:spcAft>
                <a:spcPts val="0"/>
              </a:spcAft>
              <a:buNone/>
            </a:pPr>
            <a:r>
              <a:rPr lang="en"/>
              <a:t>   “Underneath, what each of the three methods thought about the same answer.”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7. Click the second example: Raspberry Pi, and press Check the answer.</a:t>
            </a:r>
            <a:endParaRPr/>
          </a:p>
          <a:p>
            <a:pPr indent="0" lvl="0" marL="0" rtl="0" algn="l">
              <a:spcBef>
                <a:spcPts val="0"/>
              </a:spcBef>
              <a:spcAft>
                <a:spcPts val="0"/>
              </a:spcAft>
              <a:buNone/>
            </a:pPr>
            <a:r>
              <a:rPr lang="en"/>
              <a:t>   “Now a Wikipedia article with a real Gemini answer.”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8. The verdict appears.</a:t>
            </a:r>
            <a:endParaRPr/>
          </a:p>
          <a:p>
            <a:pPr indent="0" lvl="0" marL="0" rtl="0" algn="l">
              <a:spcBef>
                <a:spcPts val="0"/>
              </a:spcBef>
              <a:spcAft>
                <a:spcPts val="0"/>
              </a:spcAft>
              <a:buNone/>
            </a:pPr>
            <a:r>
              <a:rPr lang="en"/>
              <a:t>   “Supported, and all three agree — it does not just flag everything.”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9. Open the second tab, How the methods compare, for five seconds.</a:t>
            </a:r>
            <a:endParaRPr/>
          </a:p>
          <a:p>
            <a:pPr indent="0" lvl="0" marL="0" rtl="0" algn="l">
              <a:spcBef>
                <a:spcPts val="0"/>
              </a:spcBef>
              <a:spcAft>
                <a:spcPts val="0"/>
              </a:spcAft>
              <a:buNone/>
            </a:pPr>
            <a:r>
              <a:rPr lang="en"/>
              <a:t>   “And the second tab is the measurement behind all of it — three methods, three hundred answers.”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10. Back to the deck.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g43645_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pg43645_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[40 sec — the slide that matters. Do not rush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the numbers. The obvious method — text similarity — is worse than a coin toss.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Text similarity gets 36%. </a:t>
            </a:r>
            <a:endParaRPr/>
          </a:p>
          <a:p>
            <a:pPr indent="0" lvl="0" marL="0" rtl="0" algn="l">
              <a:spcBef>
                <a:spcPts val="0"/>
              </a:spcBef>
              <a:spcAft>
                <a:spcPts val="0"/>
              </a:spcAft>
              <a:buNone/>
            </a:pPr>
            <a:r>
              <a:rPr lang="en"/>
              <a:t>Entailment 64%. </a:t>
            </a:r>
            <a:endParaRPr/>
          </a:p>
          <a:p>
            <a:pPr indent="0" lvl="0" marL="0" rtl="0" algn="l">
              <a:spcBef>
                <a:spcPts val="0"/>
              </a:spcBef>
              <a:spcAft>
                <a:spcPts val="0"/>
              </a:spcAft>
              <a:buNone/>
            </a:pPr>
            <a:r>
              <a:rPr lang="en"/>
              <a:t>The AI judge 82%, and it catches 79% of the real errors, at 29 cents per thousand checks.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accuracy alone hides something: entailment is right 64 percent of the time, but it catches only 42 percent of the real errors.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g43645_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pg43645_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[30 sec]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what was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Two of the methods need a threshold, and it was tuned on a separate set of cases, which the reported numbers never touched. </a:t>
            </a:r>
            <a:endParaRPr/>
          </a:p>
          <a:p>
            <a:pPr indent="0" lvl="0" marL="0" rtl="0" algn="l">
              <a:spcBef>
                <a:spcPts val="0"/>
              </a:spcBef>
              <a:spcAft>
                <a:spcPts val="0"/>
              </a:spcAft>
              <a:buNone/>
            </a:pPr>
            <a:r>
              <a:rPr lang="en"/>
              <a:t>Memory limits how much text you can paste. The entailment model reads the whole document at once, and the free server it runs on does not have enough for a longer one. And more than half of the cost of one judge call is reasoning the user never sees.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the uncomfortable fact: a checker that is right 82% of the time creates a new risk. When it says it found nothing, you stop worrying — and one time in five it is wrong. So the screen shows that number under every verdict.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g56004_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pg56004_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[25 sec]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the next steps. Six improvements that take this from a detector to a decision — and two of them matter most.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Coverage: checking an answer with no document behind it. That needs web search, and then absence stops being evidence.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cost: run the cheap method first, so most answers never reach the judge. Same accuracy, lower cost — measured, but not yet built into the product.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also planned features for scaling, adoption, improving precision and honesty.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g59700_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pg59700_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sec]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the conclusion. The large language model — the AI judge — is the most accurate, but it is the right choice in only one of these four situations. In the other three, accuracy is not what decides.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AI judge produces text, so it is the only one that can explain itself, and that is what ships.</a:t>
            </a:r>
            <a:endParaRPr/>
          </a:p>
          <a:p>
            <a:pPr indent="0" lvl="0" marL="0" rtl="0" algn="l">
              <a:spcBef>
                <a:spcPts val="0"/>
              </a:spcBef>
              <a:spcAft>
                <a:spcPts val="0"/>
              </a:spcAft>
              <a:buNone/>
            </a:pPr>
            <a:r>
              <a:rPr lang="en"/>
              <a:t>Entailment is free and sends nothing to a third party, but half the errors pass.</a:t>
            </a:r>
            <a:endParaRPr/>
          </a:p>
          <a:p>
            <a:pPr indent="0" lvl="0" marL="0" rtl="0" algn="l">
              <a:spcBef>
                <a:spcPts val="0"/>
              </a:spcBef>
              <a:spcAft>
                <a:spcPts val="0"/>
              </a:spcAft>
              <a:buNone/>
            </a:pPr>
            <a:br>
              <a:rPr lang="en"/>
            </a:br>
            <a:r>
              <a:rPr lang="en"/>
              <a:t>At high volume, better run the cheap method first and send only the uncertain answers to the judge. Same accuracy, eighteen percent cheaper.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I built a tool that tells you whether an AI invented something, and I measured how often the tool itself is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hyperlink" Target="https://huggingface.co/spaces/Evkoff/ai-output-auditor" TargetMode="Externa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hyperlink" Target="https://huggingface.co/spaces/Evkoff/ai-output-auditor" TargetMode="External"/><Relationship Id="rId4" Type="http://schemas.openxmlformats.org/officeDocument/2006/relationships/hyperlink" Target="https://github.com/evkoff/ai-output-auditor" TargetMode="External"/><Relationship Id="rId5" Type="http://schemas.openxmlformats.org/officeDocument/2006/relationships/hyperlink" Target="https://www.loom.com/share/dc69a162c541438dadc17110303243c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232"/>
        </a:solidFill>
      </p:bgPr>
    </p:bg>
    <p:spTree>
      <p:nvGrpSpPr>
        <p:cNvPr id="53" name="Shape 53"/>
        <p:cNvGrpSpPr/>
        <p:nvPr/>
      </p:nvGrpSpPr>
      <p:grpSpPr>
        <a:xfrm>
          <a:off x="0" y="0"/>
          <a:ext cx="0" cy="0"/>
          <a:chOff x="0" y="0"/>
          <a:chExt cx="0" cy="0"/>
        </a:xfrm>
      </p:grpSpPr>
      <p:sp>
        <p:nvSpPr>
          <p:cNvPr id="54" name="Google Shape;54;p13"/>
          <p:cNvSpPr txBox="1"/>
          <p:nvPr/>
        </p:nvSpPr>
        <p:spPr>
          <a:xfrm>
            <a:off x="558800" y="736600"/>
            <a:ext cx="5334000" cy="25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949BA8"/>
                </a:solidFill>
                <a:latin typeface="Roboto Mono"/>
                <a:ea typeface="Roboto Mono"/>
                <a:cs typeface="Roboto Mono"/>
                <a:sym typeface="Roboto Mono"/>
              </a:rPr>
              <a:t>GENAI / ML BOOTCAMP CAPSTONE</a:t>
            </a:r>
            <a:endParaRPr sz="800">
              <a:solidFill>
                <a:srgbClr val="949BA8"/>
              </a:solidFill>
              <a:latin typeface="Roboto Mono"/>
              <a:ea typeface="Roboto Mono"/>
              <a:cs typeface="Roboto Mono"/>
              <a:sym typeface="Roboto Mono"/>
            </a:endParaRPr>
          </a:p>
        </p:txBody>
      </p:sp>
      <p:sp>
        <p:nvSpPr>
          <p:cNvPr id="55" name="Google Shape;55;p13"/>
          <p:cNvSpPr/>
          <p:nvPr/>
        </p:nvSpPr>
        <p:spPr>
          <a:xfrm>
            <a:off x="558800" y="1066800"/>
            <a:ext cx="79248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txBox="1"/>
          <p:nvPr/>
        </p:nvSpPr>
        <p:spPr>
          <a:xfrm>
            <a:off x="558800" y="1498600"/>
            <a:ext cx="7620000" cy="1524000"/>
          </a:xfrm>
          <a:prstGeom prst="rect">
            <a:avLst/>
          </a:prstGeom>
          <a:noFill/>
          <a:ln>
            <a:noFill/>
          </a:ln>
        </p:spPr>
        <p:txBody>
          <a:bodyPr anchorCtr="0" anchor="t" bIns="91425" lIns="91425" spcFirstLastPara="1" rIns="91425" wrap="square" tIns="91425">
            <a:noAutofit/>
          </a:bodyPr>
          <a:lstStyle/>
          <a:p>
            <a:pPr indent="0" lvl="0" marL="0" rtl="0" algn="l">
              <a:lnSpc>
                <a:spcPct val="86000"/>
              </a:lnSpc>
              <a:spcBef>
                <a:spcPts val="0"/>
              </a:spcBef>
              <a:spcAft>
                <a:spcPts val="0"/>
              </a:spcAft>
              <a:buNone/>
            </a:pPr>
            <a:r>
              <a:rPr b="1" lang="en" sz="5400">
                <a:solidFill>
                  <a:srgbClr val="E9E7E2"/>
                </a:solidFill>
                <a:latin typeface="Space Grotesk"/>
                <a:ea typeface="Space Grotesk"/>
                <a:cs typeface="Space Grotesk"/>
                <a:sym typeface="Space Grotesk"/>
              </a:rPr>
              <a:t>Did the AI</a:t>
            </a:r>
            <a:endParaRPr b="1" sz="5400">
              <a:solidFill>
                <a:srgbClr val="E9E7E2"/>
              </a:solidFill>
              <a:latin typeface="Space Grotesk"/>
              <a:ea typeface="Space Grotesk"/>
              <a:cs typeface="Space Grotesk"/>
              <a:sym typeface="Space Grotesk"/>
            </a:endParaRPr>
          </a:p>
          <a:p>
            <a:pPr indent="0" lvl="0" marL="0" rtl="0" algn="l">
              <a:lnSpc>
                <a:spcPct val="86000"/>
              </a:lnSpc>
              <a:spcBef>
                <a:spcPts val="0"/>
              </a:spcBef>
              <a:spcAft>
                <a:spcPts val="0"/>
              </a:spcAft>
              <a:buNone/>
            </a:pPr>
            <a:r>
              <a:rPr b="1" lang="en" sz="5400">
                <a:solidFill>
                  <a:srgbClr val="E9E7E2"/>
                </a:solidFill>
                <a:latin typeface="Space Grotesk"/>
                <a:ea typeface="Space Grotesk"/>
                <a:cs typeface="Space Grotesk"/>
                <a:sym typeface="Space Grotesk"/>
              </a:rPr>
              <a:t>invent this?</a:t>
            </a:r>
            <a:endParaRPr b="1" sz="5400">
              <a:solidFill>
                <a:srgbClr val="E9E7E2"/>
              </a:solidFill>
              <a:latin typeface="Space Grotesk"/>
              <a:ea typeface="Space Grotesk"/>
              <a:cs typeface="Space Grotesk"/>
              <a:sym typeface="Space Grotesk"/>
            </a:endParaRPr>
          </a:p>
        </p:txBody>
      </p:sp>
      <p:sp>
        <p:nvSpPr>
          <p:cNvPr id="57" name="Google Shape;57;p13"/>
          <p:cNvSpPr txBox="1"/>
          <p:nvPr/>
        </p:nvSpPr>
        <p:spPr>
          <a:xfrm>
            <a:off x="558800" y="3225800"/>
            <a:ext cx="5460900" cy="635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949BA8"/>
                </a:solidFill>
                <a:latin typeface="Inter"/>
                <a:ea typeface="Inter"/>
                <a:cs typeface="Inter"/>
                <a:sym typeface="Inter"/>
              </a:rPr>
              <a:t>A hallucination detector: it reads your document and an AI's answer about it, and names what the document does not support.</a:t>
            </a:r>
            <a:endParaRPr sz="1200">
              <a:solidFill>
                <a:srgbClr val="949BA8"/>
              </a:solidFill>
              <a:latin typeface="Inter"/>
              <a:ea typeface="Inter"/>
              <a:cs typeface="Inter"/>
              <a:sym typeface="Inter"/>
            </a:endParaRPr>
          </a:p>
        </p:txBody>
      </p:sp>
      <p:sp>
        <p:nvSpPr>
          <p:cNvPr id="58" name="Google Shape;58;p13"/>
          <p:cNvSpPr/>
          <p:nvPr/>
        </p:nvSpPr>
        <p:spPr>
          <a:xfrm>
            <a:off x="558800" y="3962400"/>
            <a:ext cx="762000" cy="31800"/>
          </a:xfrm>
          <a:prstGeom prst="rect">
            <a:avLst/>
          </a:prstGeom>
          <a:solidFill>
            <a:srgbClr val="5FCFA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13"/>
          <p:cNvSpPr txBox="1"/>
          <p:nvPr/>
        </p:nvSpPr>
        <p:spPr>
          <a:xfrm>
            <a:off x="558800" y="4140200"/>
            <a:ext cx="5841900" cy="50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rgbClr val="E9E7E2"/>
                </a:solidFill>
                <a:latin typeface="Inter"/>
                <a:ea typeface="Inter"/>
                <a:cs typeface="Inter"/>
                <a:sym typeface="Inter"/>
              </a:rPr>
              <a:t>Three detection methods, measured head to head on 300 human-labelled answers — and a recommendation.</a:t>
            </a:r>
            <a:endParaRPr sz="1100">
              <a:solidFill>
                <a:srgbClr val="E9E7E2"/>
              </a:solidFill>
              <a:latin typeface="Inter"/>
              <a:ea typeface="Inter"/>
              <a:cs typeface="Inter"/>
              <a:sym typeface="Inter"/>
            </a:endParaRPr>
          </a:p>
        </p:txBody>
      </p:sp>
      <p:sp>
        <p:nvSpPr>
          <p:cNvPr id="60" name="Google Shape;60;p13"/>
          <p:cNvSpPr txBox="1"/>
          <p:nvPr/>
        </p:nvSpPr>
        <p:spPr>
          <a:xfrm>
            <a:off x="4724400" y="4673600"/>
            <a:ext cx="3810000" cy="17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sz="750">
                <a:solidFill>
                  <a:srgbClr val="949BA8"/>
                </a:solidFill>
                <a:latin typeface="Roboto Mono"/>
                <a:ea typeface="Roboto Mono"/>
                <a:cs typeface="Roboto Mono"/>
                <a:sym typeface="Roboto Mono"/>
              </a:rPr>
              <a:t>EVGENIYA KOLESNIKOV</a:t>
            </a:r>
            <a:endParaRPr sz="750">
              <a:solidFill>
                <a:srgbClr val="949BA8"/>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232"/>
        </a:solidFill>
      </p:bgPr>
    </p:bg>
    <p:spTree>
      <p:nvGrpSpPr>
        <p:cNvPr id="64" name="Shape 64"/>
        <p:cNvGrpSpPr/>
        <p:nvPr/>
      </p:nvGrpSpPr>
      <p:grpSpPr>
        <a:xfrm>
          <a:off x="0" y="0"/>
          <a:ext cx="0" cy="0"/>
          <a:chOff x="0" y="0"/>
          <a:chExt cx="0" cy="0"/>
        </a:xfrm>
      </p:grpSpPr>
      <p:sp>
        <p:nvSpPr>
          <p:cNvPr id="65" name="Google Shape;65;p14"/>
          <p:cNvSpPr txBox="1"/>
          <p:nvPr/>
        </p:nvSpPr>
        <p:spPr>
          <a:xfrm>
            <a:off x="558800" y="533400"/>
            <a:ext cx="1066800" cy="5079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01</a:t>
            </a:r>
            <a:endParaRPr sz="800">
              <a:solidFill>
                <a:srgbClr val="949BA8"/>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THE PROBLEM</a:t>
            </a:r>
            <a:endParaRPr sz="800">
              <a:solidFill>
                <a:srgbClr val="949BA8"/>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MOTIVATION</a:t>
            </a:r>
            <a:endParaRPr sz="800">
              <a:solidFill>
                <a:srgbClr val="949BA8"/>
              </a:solidFill>
              <a:latin typeface="Roboto Mono"/>
              <a:ea typeface="Roboto Mono"/>
              <a:cs typeface="Roboto Mono"/>
              <a:sym typeface="Roboto Mono"/>
            </a:endParaRPr>
          </a:p>
        </p:txBody>
      </p:sp>
      <p:sp>
        <p:nvSpPr>
          <p:cNvPr id="66" name="Google Shape;66;p14"/>
          <p:cNvSpPr/>
          <p:nvPr/>
        </p:nvSpPr>
        <p:spPr>
          <a:xfrm>
            <a:off x="558800" y="4572000"/>
            <a:ext cx="79248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4"/>
          <p:cNvSpPr txBox="1"/>
          <p:nvPr/>
        </p:nvSpPr>
        <p:spPr>
          <a:xfrm>
            <a:off x="558800" y="4673600"/>
            <a:ext cx="3810000" cy="17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750">
                <a:solidFill>
                  <a:srgbClr val="949BA8"/>
                </a:solidFill>
                <a:latin typeface="Roboto Mono"/>
                <a:ea typeface="Roboto Mono"/>
                <a:cs typeface="Roboto Mono"/>
                <a:sym typeface="Roboto Mono"/>
              </a:rPr>
              <a:t>AI OUTPUT AUDITOR</a:t>
            </a:r>
            <a:endParaRPr sz="750">
              <a:solidFill>
                <a:srgbClr val="949BA8"/>
              </a:solidFill>
              <a:latin typeface="Roboto Mono"/>
              <a:ea typeface="Roboto Mono"/>
              <a:cs typeface="Roboto Mono"/>
              <a:sym typeface="Roboto Mono"/>
            </a:endParaRPr>
          </a:p>
        </p:txBody>
      </p:sp>
      <p:sp>
        <p:nvSpPr>
          <p:cNvPr id="68" name="Google Shape;68;p14"/>
          <p:cNvSpPr txBox="1"/>
          <p:nvPr/>
        </p:nvSpPr>
        <p:spPr>
          <a:xfrm>
            <a:off x="4724400" y="4673600"/>
            <a:ext cx="3810000" cy="17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sz="750">
                <a:solidFill>
                  <a:srgbClr val="949BA8"/>
                </a:solidFill>
                <a:latin typeface="Roboto Mono"/>
                <a:ea typeface="Roboto Mono"/>
                <a:cs typeface="Roboto Mono"/>
                <a:sym typeface="Roboto Mono"/>
              </a:rPr>
              <a:t>EVGENIYA KOLESNIKOV</a:t>
            </a:r>
            <a:endParaRPr sz="750">
              <a:solidFill>
                <a:srgbClr val="949BA8"/>
              </a:solidFill>
              <a:latin typeface="Roboto Mono"/>
              <a:ea typeface="Roboto Mono"/>
              <a:cs typeface="Roboto Mono"/>
              <a:sym typeface="Roboto Mono"/>
            </a:endParaRPr>
          </a:p>
        </p:txBody>
      </p:sp>
      <p:sp>
        <p:nvSpPr>
          <p:cNvPr id="69" name="Google Shape;69;p14"/>
          <p:cNvSpPr txBox="1"/>
          <p:nvPr/>
        </p:nvSpPr>
        <p:spPr>
          <a:xfrm>
            <a:off x="1778000" y="508000"/>
            <a:ext cx="6756300" cy="787500"/>
          </a:xfrm>
          <a:prstGeom prst="rect">
            <a:avLst/>
          </a:prstGeom>
          <a:noFill/>
          <a:ln>
            <a:noFill/>
          </a:ln>
        </p:spPr>
        <p:txBody>
          <a:bodyPr anchorCtr="0" anchor="t" bIns="91425" lIns="91425" spcFirstLastPara="1" rIns="91425" wrap="square" tIns="91425">
            <a:noAutofit/>
          </a:bodyPr>
          <a:lstStyle/>
          <a:p>
            <a:pPr indent="0" lvl="0" marL="0" rtl="0" algn="l">
              <a:lnSpc>
                <a:spcPct val="92000"/>
              </a:lnSpc>
              <a:spcBef>
                <a:spcPts val="0"/>
              </a:spcBef>
              <a:spcAft>
                <a:spcPts val="0"/>
              </a:spcAft>
              <a:buNone/>
            </a:pPr>
            <a:r>
              <a:rPr b="1" lang="en" sz="2700">
                <a:solidFill>
                  <a:srgbClr val="E9E7E2"/>
                </a:solidFill>
                <a:latin typeface="Space Grotesk"/>
                <a:ea typeface="Space Grotesk"/>
                <a:cs typeface="Space Grotesk"/>
                <a:sym typeface="Space Grotesk"/>
              </a:rPr>
              <a:t>To check the answer, you have to read the document yourself</a:t>
            </a:r>
            <a:endParaRPr b="1" sz="2700">
              <a:solidFill>
                <a:srgbClr val="E9E7E2"/>
              </a:solidFill>
              <a:latin typeface="Space Grotesk"/>
              <a:ea typeface="Space Grotesk"/>
              <a:cs typeface="Space Grotesk"/>
              <a:sym typeface="Space Grotesk"/>
            </a:endParaRPr>
          </a:p>
        </p:txBody>
      </p:sp>
      <p:sp>
        <p:nvSpPr>
          <p:cNvPr id="70" name="Google Shape;70;p14"/>
          <p:cNvSpPr/>
          <p:nvPr/>
        </p:nvSpPr>
        <p:spPr>
          <a:xfrm>
            <a:off x="1778000" y="13970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4"/>
          <p:cNvSpPr txBox="1"/>
          <p:nvPr/>
        </p:nvSpPr>
        <p:spPr>
          <a:xfrm>
            <a:off x="1778000" y="1600200"/>
            <a:ext cx="6756300" cy="635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 sz="1050">
                <a:solidFill>
                  <a:srgbClr val="949BA8"/>
                </a:solidFill>
                <a:latin typeface="Inter"/>
                <a:ea typeface="Inter"/>
                <a:cs typeface="Inter"/>
                <a:sym typeface="Inter"/>
              </a:rPr>
              <a:t>You give a document to an AI and ask it to summarise it, or ask a question about it. The answer sounds right. Checking it means reading the whole document — the work you do not have time for.</a:t>
            </a:r>
            <a:endParaRPr sz="1050">
              <a:solidFill>
                <a:srgbClr val="949BA8"/>
              </a:solidFill>
              <a:latin typeface="Inter"/>
              <a:ea typeface="Inter"/>
              <a:cs typeface="Inter"/>
              <a:sym typeface="Inter"/>
            </a:endParaRPr>
          </a:p>
        </p:txBody>
      </p:sp>
      <p:sp>
        <p:nvSpPr>
          <p:cNvPr id="72" name="Google Shape;72;p14"/>
          <p:cNvSpPr txBox="1"/>
          <p:nvPr/>
        </p:nvSpPr>
        <p:spPr>
          <a:xfrm>
            <a:off x="1778000" y="2249593"/>
            <a:ext cx="1905000" cy="53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3400">
                <a:solidFill>
                  <a:srgbClr val="E9E7E2"/>
                </a:solidFill>
                <a:latin typeface="Space Grotesk"/>
                <a:ea typeface="Space Grotesk"/>
                <a:cs typeface="Space Grotesk"/>
                <a:sym typeface="Space Grotesk"/>
              </a:rPr>
              <a:t>5.5%</a:t>
            </a:r>
            <a:endParaRPr b="1" sz="3400">
              <a:solidFill>
                <a:srgbClr val="E9E7E2"/>
              </a:solidFill>
              <a:latin typeface="Space Grotesk"/>
              <a:ea typeface="Space Grotesk"/>
              <a:cs typeface="Space Grotesk"/>
              <a:sym typeface="Space Grotesk"/>
            </a:endParaRPr>
          </a:p>
        </p:txBody>
      </p:sp>
      <p:sp>
        <p:nvSpPr>
          <p:cNvPr id="73" name="Google Shape;73;p14"/>
          <p:cNvSpPr txBox="1"/>
          <p:nvPr/>
        </p:nvSpPr>
        <p:spPr>
          <a:xfrm>
            <a:off x="1778000" y="2782993"/>
            <a:ext cx="19050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50">
                <a:solidFill>
                  <a:srgbClr val="949BA8"/>
                </a:solidFill>
                <a:latin typeface="Roboto Mono"/>
                <a:ea typeface="Roboto Mono"/>
                <a:cs typeface="Roboto Mono"/>
                <a:sym typeface="Roboto Mono"/>
              </a:rPr>
              <a:t>ChatGPT · GPT-5.4-mini</a:t>
            </a:r>
            <a:endParaRPr sz="850">
              <a:solidFill>
                <a:srgbClr val="949BA8"/>
              </a:solidFill>
              <a:latin typeface="Roboto Mono"/>
              <a:ea typeface="Roboto Mono"/>
              <a:cs typeface="Roboto Mono"/>
              <a:sym typeface="Roboto Mono"/>
            </a:endParaRPr>
          </a:p>
        </p:txBody>
      </p:sp>
      <p:sp>
        <p:nvSpPr>
          <p:cNvPr id="74" name="Google Shape;74;p14"/>
          <p:cNvSpPr txBox="1"/>
          <p:nvPr/>
        </p:nvSpPr>
        <p:spPr>
          <a:xfrm>
            <a:off x="4013200" y="2249593"/>
            <a:ext cx="1905000" cy="53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3400">
                <a:solidFill>
                  <a:srgbClr val="E9E7E2"/>
                </a:solidFill>
                <a:latin typeface="Space Grotesk"/>
                <a:ea typeface="Space Grotesk"/>
                <a:cs typeface="Space Grotesk"/>
                <a:sym typeface="Space Grotesk"/>
              </a:rPr>
              <a:t>7.8%</a:t>
            </a:r>
            <a:endParaRPr b="1" sz="3400">
              <a:solidFill>
                <a:srgbClr val="E9E7E2"/>
              </a:solidFill>
              <a:latin typeface="Space Grotesk"/>
              <a:ea typeface="Space Grotesk"/>
              <a:cs typeface="Space Grotesk"/>
              <a:sym typeface="Space Grotesk"/>
            </a:endParaRPr>
          </a:p>
        </p:txBody>
      </p:sp>
      <p:sp>
        <p:nvSpPr>
          <p:cNvPr id="75" name="Google Shape;75;p14"/>
          <p:cNvSpPr txBox="1"/>
          <p:nvPr/>
        </p:nvSpPr>
        <p:spPr>
          <a:xfrm>
            <a:off x="4013200" y="2782993"/>
            <a:ext cx="19050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50">
                <a:solidFill>
                  <a:srgbClr val="949BA8"/>
                </a:solidFill>
                <a:latin typeface="Roboto Mono"/>
                <a:ea typeface="Roboto Mono"/>
                <a:cs typeface="Roboto Mono"/>
                <a:sym typeface="Roboto Mono"/>
              </a:rPr>
              <a:t>Gemini · 2.5 Flash</a:t>
            </a:r>
            <a:endParaRPr sz="850">
              <a:solidFill>
                <a:srgbClr val="949BA8"/>
              </a:solidFill>
              <a:latin typeface="Roboto Mono"/>
              <a:ea typeface="Roboto Mono"/>
              <a:cs typeface="Roboto Mono"/>
              <a:sym typeface="Roboto Mono"/>
            </a:endParaRPr>
          </a:p>
        </p:txBody>
      </p:sp>
      <p:sp>
        <p:nvSpPr>
          <p:cNvPr id="76" name="Google Shape;76;p14"/>
          <p:cNvSpPr txBox="1"/>
          <p:nvPr/>
        </p:nvSpPr>
        <p:spPr>
          <a:xfrm>
            <a:off x="6248400" y="2249593"/>
            <a:ext cx="1905000" cy="53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3400">
                <a:solidFill>
                  <a:srgbClr val="E9E7E2"/>
                </a:solidFill>
                <a:latin typeface="Space Grotesk"/>
                <a:ea typeface="Space Grotesk"/>
                <a:cs typeface="Space Grotesk"/>
                <a:sym typeface="Space Grotesk"/>
              </a:rPr>
              <a:t>12.0%</a:t>
            </a:r>
            <a:endParaRPr b="1" sz="3400">
              <a:solidFill>
                <a:srgbClr val="E9E7E2"/>
              </a:solidFill>
              <a:latin typeface="Space Grotesk"/>
              <a:ea typeface="Space Grotesk"/>
              <a:cs typeface="Space Grotesk"/>
              <a:sym typeface="Space Grotesk"/>
            </a:endParaRPr>
          </a:p>
        </p:txBody>
      </p:sp>
      <p:sp>
        <p:nvSpPr>
          <p:cNvPr id="77" name="Google Shape;77;p14"/>
          <p:cNvSpPr txBox="1"/>
          <p:nvPr/>
        </p:nvSpPr>
        <p:spPr>
          <a:xfrm>
            <a:off x="6248400" y="2782993"/>
            <a:ext cx="19050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50">
                <a:solidFill>
                  <a:srgbClr val="949BA8"/>
                </a:solidFill>
                <a:latin typeface="Roboto Mono"/>
                <a:ea typeface="Roboto Mono"/>
                <a:cs typeface="Roboto Mono"/>
                <a:sym typeface="Roboto Mono"/>
              </a:rPr>
              <a:t>Claude · Sonnet 4.5</a:t>
            </a:r>
            <a:endParaRPr sz="850">
              <a:solidFill>
                <a:srgbClr val="949BA8"/>
              </a:solidFill>
              <a:latin typeface="Roboto Mono"/>
              <a:ea typeface="Roboto Mono"/>
              <a:cs typeface="Roboto Mono"/>
              <a:sym typeface="Roboto Mono"/>
            </a:endParaRPr>
          </a:p>
        </p:txBody>
      </p:sp>
      <p:sp>
        <p:nvSpPr>
          <p:cNvPr id="78" name="Google Shape;78;p14"/>
          <p:cNvSpPr/>
          <p:nvPr/>
        </p:nvSpPr>
        <p:spPr>
          <a:xfrm>
            <a:off x="1778000" y="3189393"/>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4"/>
          <p:cNvSpPr txBox="1"/>
          <p:nvPr/>
        </p:nvSpPr>
        <p:spPr>
          <a:xfrm>
            <a:off x="1778000" y="3316393"/>
            <a:ext cx="6756300" cy="381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rgbClr val="E9E7E2"/>
                </a:solidFill>
                <a:latin typeface="Inter"/>
                <a:ea typeface="Inter"/>
                <a:cs typeface="Inter"/>
                <a:sym typeface="Inter"/>
              </a:rPr>
              <a:t>Not hypothetical: courts have logged 2,095 filings containing citations that do not exist — 57 of them in Israel.</a:t>
            </a:r>
            <a:endParaRPr sz="1100">
              <a:solidFill>
                <a:srgbClr val="E9E7E2"/>
              </a:solidFill>
              <a:latin typeface="Inter"/>
              <a:ea typeface="Inter"/>
              <a:cs typeface="Inter"/>
              <a:sym typeface="Inter"/>
            </a:endParaRPr>
          </a:p>
        </p:txBody>
      </p:sp>
      <p:sp>
        <p:nvSpPr>
          <p:cNvPr id="80" name="Google Shape;80;p14"/>
          <p:cNvSpPr txBox="1"/>
          <p:nvPr/>
        </p:nvSpPr>
        <p:spPr>
          <a:xfrm>
            <a:off x="1778000" y="3911600"/>
            <a:ext cx="6756300" cy="558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 sz="800">
                <a:solidFill>
                  <a:srgbClr val="949BA8"/>
                </a:solidFill>
                <a:latin typeface="Inter"/>
                <a:ea typeface="Inter"/>
                <a:cs typeface="Inter"/>
                <a:sym typeface="Inter"/>
              </a:rPr>
              <a:t>Vectara’s public hallucination leaderboard, figures as of 30 September 2026. Every model summarises 7,700 documents and each summary is checked against its source. Above are the standard tiers of the three assistants most people open. Paying more does not fix it: GPT-5.4-pro is at 8.3%, Claude Opus 4.5 at 10.9%, Gemini 3 Pro at 13.6%. The best model on the whole list is at 1.8%, and it is a small one nobody opens in a chat. Court filings: AI Hallucination Cases database, as of 28 September 2026.</a:t>
            </a:r>
            <a:endParaRPr sz="800">
              <a:solidFill>
                <a:srgbClr val="949BA8"/>
              </a:solidFill>
              <a:latin typeface="Inter"/>
              <a:ea typeface="Inter"/>
              <a:cs typeface="Inter"/>
              <a:sym typeface="Inter"/>
            </a:endParaRPr>
          </a:p>
        </p:txBody>
      </p:sp>
      <p:sp>
        <p:nvSpPr>
          <p:cNvPr id="81" name="Google Shape;81;p14"/>
          <p:cNvSpPr txBox="1"/>
          <p:nvPr/>
        </p:nvSpPr>
        <p:spPr>
          <a:xfrm>
            <a:off x="1778000" y="2120900"/>
            <a:ext cx="6756300" cy="17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FCFAE"/>
                </a:solidFill>
                <a:latin typeface="Roboto Mono"/>
                <a:ea typeface="Roboto Mono"/>
                <a:cs typeface="Roboto Mono"/>
                <a:sym typeface="Roboto Mono"/>
              </a:rPr>
              <a:t>SUMMARIES WITH A FACT WRONG</a:t>
            </a:r>
            <a:endParaRPr sz="800">
              <a:solidFill>
                <a:srgbClr val="5FCFAE"/>
              </a:solidFill>
              <a:latin typeface="Roboto Mono"/>
              <a:ea typeface="Roboto Mono"/>
              <a:cs typeface="Roboto Mono"/>
              <a:sym typeface="Roboto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232"/>
        </a:solidFill>
      </p:bgPr>
    </p:bg>
    <p:spTree>
      <p:nvGrpSpPr>
        <p:cNvPr id="85" name="Shape 85"/>
        <p:cNvGrpSpPr/>
        <p:nvPr/>
      </p:nvGrpSpPr>
      <p:grpSpPr>
        <a:xfrm>
          <a:off x="0" y="0"/>
          <a:ext cx="0" cy="0"/>
          <a:chOff x="0" y="0"/>
          <a:chExt cx="0" cy="0"/>
        </a:xfrm>
      </p:grpSpPr>
      <p:sp>
        <p:nvSpPr>
          <p:cNvPr id="86" name="Google Shape;86;p15"/>
          <p:cNvSpPr txBox="1"/>
          <p:nvPr/>
        </p:nvSpPr>
        <p:spPr>
          <a:xfrm>
            <a:off x="558800" y="685800"/>
            <a:ext cx="1066800" cy="5079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02</a:t>
            </a:r>
            <a:endParaRPr sz="800">
              <a:solidFill>
                <a:srgbClr val="949BA8"/>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THE SOLUTION</a:t>
            </a:r>
            <a:endParaRPr sz="800">
              <a:solidFill>
                <a:srgbClr val="949BA8"/>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AND WHO IT IS FOR</a:t>
            </a:r>
            <a:endParaRPr sz="800">
              <a:solidFill>
                <a:srgbClr val="949BA8"/>
              </a:solidFill>
              <a:latin typeface="Roboto Mono"/>
              <a:ea typeface="Roboto Mono"/>
              <a:cs typeface="Roboto Mono"/>
              <a:sym typeface="Roboto Mono"/>
            </a:endParaRPr>
          </a:p>
        </p:txBody>
      </p:sp>
      <p:sp>
        <p:nvSpPr>
          <p:cNvPr id="87" name="Google Shape;87;p15"/>
          <p:cNvSpPr/>
          <p:nvPr/>
        </p:nvSpPr>
        <p:spPr>
          <a:xfrm>
            <a:off x="558800" y="4572000"/>
            <a:ext cx="79248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5"/>
          <p:cNvSpPr txBox="1"/>
          <p:nvPr/>
        </p:nvSpPr>
        <p:spPr>
          <a:xfrm>
            <a:off x="558800" y="4673600"/>
            <a:ext cx="3810000" cy="17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750">
                <a:solidFill>
                  <a:srgbClr val="949BA8"/>
                </a:solidFill>
                <a:latin typeface="Roboto Mono"/>
                <a:ea typeface="Roboto Mono"/>
                <a:cs typeface="Roboto Mono"/>
                <a:sym typeface="Roboto Mono"/>
              </a:rPr>
              <a:t>AI OUTPUT AUDITOR</a:t>
            </a:r>
            <a:endParaRPr sz="750">
              <a:solidFill>
                <a:srgbClr val="949BA8"/>
              </a:solidFill>
              <a:latin typeface="Roboto Mono"/>
              <a:ea typeface="Roboto Mono"/>
              <a:cs typeface="Roboto Mono"/>
              <a:sym typeface="Roboto Mono"/>
            </a:endParaRPr>
          </a:p>
        </p:txBody>
      </p:sp>
      <p:sp>
        <p:nvSpPr>
          <p:cNvPr id="89" name="Google Shape;89;p15"/>
          <p:cNvSpPr txBox="1"/>
          <p:nvPr/>
        </p:nvSpPr>
        <p:spPr>
          <a:xfrm>
            <a:off x="4724400" y="4673600"/>
            <a:ext cx="3810000" cy="17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sz="750">
                <a:solidFill>
                  <a:srgbClr val="949BA8"/>
                </a:solidFill>
                <a:latin typeface="Roboto Mono"/>
                <a:ea typeface="Roboto Mono"/>
                <a:cs typeface="Roboto Mono"/>
                <a:sym typeface="Roboto Mono"/>
              </a:rPr>
              <a:t>EVGENIYA KOLESNIKOV</a:t>
            </a:r>
            <a:endParaRPr sz="750">
              <a:solidFill>
                <a:srgbClr val="949BA8"/>
              </a:solidFill>
              <a:latin typeface="Roboto Mono"/>
              <a:ea typeface="Roboto Mono"/>
              <a:cs typeface="Roboto Mono"/>
              <a:sym typeface="Roboto Mono"/>
            </a:endParaRPr>
          </a:p>
        </p:txBody>
      </p:sp>
      <p:sp>
        <p:nvSpPr>
          <p:cNvPr id="90" name="Google Shape;90;p15"/>
          <p:cNvSpPr txBox="1"/>
          <p:nvPr/>
        </p:nvSpPr>
        <p:spPr>
          <a:xfrm>
            <a:off x="1778000" y="508000"/>
            <a:ext cx="6756300" cy="762000"/>
          </a:xfrm>
          <a:prstGeom prst="rect">
            <a:avLst/>
          </a:prstGeom>
          <a:noFill/>
          <a:ln>
            <a:noFill/>
          </a:ln>
        </p:spPr>
        <p:txBody>
          <a:bodyPr anchorCtr="0" anchor="t" bIns="91425" lIns="91425" spcFirstLastPara="1" rIns="91425" wrap="square" tIns="91425">
            <a:noAutofit/>
          </a:bodyPr>
          <a:lstStyle/>
          <a:p>
            <a:pPr indent="0" lvl="0" marL="0" rtl="0" algn="l">
              <a:lnSpc>
                <a:spcPct val="92000"/>
              </a:lnSpc>
              <a:spcBef>
                <a:spcPts val="0"/>
              </a:spcBef>
              <a:spcAft>
                <a:spcPts val="0"/>
              </a:spcAft>
              <a:buNone/>
            </a:pPr>
            <a:r>
              <a:rPr b="1" lang="en" sz="2700">
                <a:solidFill>
                  <a:srgbClr val="E9E7E2"/>
                </a:solidFill>
                <a:latin typeface="Space Grotesk"/>
                <a:ea typeface="Space Grotesk"/>
                <a:cs typeface="Space Grotesk"/>
                <a:sym typeface="Space Grotesk"/>
              </a:rPr>
              <a:t>One verdict: is the answer supported by your document?</a:t>
            </a:r>
            <a:endParaRPr b="1" sz="2700">
              <a:solidFill>
                <a:srgbClr val="E9E7E2"/>
              </a:solidFill>
              <a:latin typeface="Space Grotesk"/>
              <a:ea typeface="Space Grotesk"/>
              <a:cs typeface="Space Grotesk"/>
              <a:sym typeface="Space Grotesk"/>
            </a:endParaRPr>
          </a:p>
        </p:txBody>
      </p:sp>
      <p:sp>
        <p:nvSpPr>
          <p:cNvPr id="91" name="Google Shape;91;p15"/>
          <p:cNvSpPr/>
          <p:nvPr/>
        </p:nvSpPr>
        <p:spPr>
          <a:xfrm>
            <a:off x="1778000" y="13970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5"/>
          <p:cNvSpPr txBox="1"/>
          <p:nvPr/>
        </p:nvSpPr>
        <p:spPr>
          <a:xfrm>
            <a:off x="1778000" y="1600200"/>
            <a:ext cx="1397100" cy="381000"/>
          </a:xfrm>
          <a:prstGeom prst="rect">
            <a:avLst/>
          </a:prstGeom>
          <a:noFill/>
          <a:ln>
            <a:noFill/>
          </a:ln>
        </p:spPr>
        <p:txBody>
          <a:bodyPr anchorCtr="0" anchor="t" bIns="91425" lIns="91425" spcFirstLastPara="1" rIns="91425" wrap="square" tIns="91425">
            <a:noAutofit/>
          </a:bodyPr>
          <a:lstStyle/>
          <a:p>
            <a:pPr indent="0" lvl="0" marL="0" rtl="0" algn="l">
              <a:lnSpc>
                <a:spcPct val="124000"/>
              </a:lnSpc>
              <a:spcBef>
                <a:spcPts val="0"/>
              </a:spcBef>
              <a:spcAft>
                <a:spcPts val="0"/>
              </a:spcAft>
              <a:buNone/>
            </a:pPr>
            <a:r>
              <a:rPr lang="en" sz="800">
                <a:solidFill>
                  <a:srgbClr val="5FCFAE"/>
                </a:solidFill>
                <a:latin typeface="Roboto Mono"/>
                <a:ea typeface="Roboto Mono"/>
                <a:cs typeface="Roboto Mono"/>
                <a:sym typeface="Roboto Mono"/>
              </a:rPr>
              <a:t>METHOD 01</a:t>
            </a:r>
            <a:endParaRPr sz="800">
              <a:solidFill>
                <a:srgbClr val="5FCFAE"/>
              </a:solidFill>
              <a:latin typeface="Roboto Mono"/>
              <a:ea typeface="Roboto Mono"/>
              <a:cs typeface="Roboto Mono"/>
              <a:sym typeface="Roboto Mono"/>
            </a:endParaRPr>
          </a:p>
          <a:p>
            <a:pPr indent="0" lvl="0" marL="0" rtl="0" algn="l">
              <a:lnSpc>
                <a:spcPct val="124000"/>
              </a:lnSpc>
              <a:spcBef>
                <a:spcPts val="0"/>
              </a:spcBef>
              <a:spcAft>
                <a:spcPts val="0"/>
              </a:spcAft>
              <a:buNone/>
            </a:pPr>
            <a:r>
              <a:rPr b="1" lang="en" sz="1100">
                <a:solidFill>
                  <a:srgbClr val="E9E7E2"/>
                </a:solidFill>
                <a:latin typeface="Inter"/>
                <a:ea typeface="Inter"/>
                <a:cs typeface="Inter"/>
                <a:sym typeface="Inter"/>
              </a:rPr>
              <a:t>Text similarity</a:t>
            </a:r>
            <a:endParaRPr b="1" sz="1100">
              <a:solidFill>
                <a:srgbClr val="E9E7E2"/>
              </a:solidFill>
              <a:latin typeface="Inter"/>
              <a:ea typeface="Inter"/>
              <a:cs typeface="Inter"/>
              <a:sym typeface="Inter"/>
            </a:endParaRPr>
          </a:p>
        </p:txBody>
      </p:sp>
      <p:sp>
        <p:nvSpPr>
          <p:cNvPr id="93" name="Google Shape;93;p15"/>
          <p:cNvSpPr txBox="1"/>
          <p:nvPr/>
        </p:nvSpPr>
        <p:spPr>
          <a:xfrm>
            <a:off x="3327400" y="1562100"/>
            <a:ext cx="5207100" cy="635100"/>
          </a:xfrm>
          <a:prstGeom prst="rect">
            <a:avLst/>
          </a:prstGeom>
          <a:noFill/>
          <a:ln>
            <a:noFill/>
          </a:ln>
        </p:spPr>
        <p:txBody>
          <a:bodyPr anchorCtr="0" anchor="t" bIns="91425" lIns="91425" spcFirstLastPara="1" rIns="91425" wrap="square" tIns="91425">
            <a:noAutofit/>
          </a:bodyPr>
          <a:lstStyle/>
          <a:p>
            <a:pPr indent="0" lvl="0" marL="0" rtl="0" algn="l">
              <a:lnSpc>
                <a:spcPct val="108000"/>
              </a:lnSpc>
              <a:spcBef>
                <a:spcPts val="0"/>
              </a:spcBef>
              <a:spcAft>
                <a:spcPts val="0"/>
              </a:spcAft>
              <a:buNone/>
            </a:pPr>
            <a:r>
              <a:rPr lang="en" sz="950">
                <a:solidFill>
                  <a:srgbClr val="E9E7E2"/>
                </a:solidFill>
                <a:latin typeface="Inter"/>
                <a:ea typeface="Inter"/>
                <a:cs typeface="Inter"/>
                <a:sym typeface="Inter"/>
              </a:rPr>
              <a:t>Encodes each text separately and measures the angle between the vectors. Topics, not claims: two texts can share a topic and say opposite things.</a:t>
            </a:r>
            <a:r>
              <a:rPr lang="en" sz="950">
                <a:solidFill>
                  <a:srgbClr val="E9E7E2"/>
                </a:solidFill>
                <a:latin typeface="Inter"/>
                <a:ea typeface="Inter"/>
                <a:cs typeface="Inter"/>
                <a:sym typeface="Inter"/>
              </a:rPr>
              <a:t> </a:t>
            </a:r>
            <a:r>
              <a:rPr lang="en" sz="950">
                <a:solidFill>
                  <a:srgbClr val="E9E7E2"/>
                </a:solidFill>
                <a:latin typeface="Inter"/>
                <a:ea typeface="Inter"/>
                <a:cs typeface="Inter"/>
                <a:sym typeface="Inter"/>
              </a:rPr>
              <a:t>all-MiniLM-L6-v2 — a compressed BERT (encoder-only), used as a bi-encoder · local · free</a:t>
            </a:r>
            <a:endParaRPr sz="950">
              <a:solidFill>
                <a:srgbClr val="E9E7E2"/>
              </a:solidFill>
              <a:latin typeface="Inter"/>
              <a:ea typeface="Inter"/>
              <a:cs typeface="Inter"/>
              <a:sym typeface="Inter"/>
            </a:endParaRPr>
          </a:p>
        </p:txBody>
      </p:sp>
      <p:sp>
        <p:nvSpPr>
          <p:cNvPr id="94" name="Google Shape;94;p15"/>
          <p:cNvSpPr/>
          <p:nvPr/>
        </p:nvSpPr>
        <p:spPr>
          <a:xfrm>
            <a:off x="1778000" y="21844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5"/>
          <p:cNvSpPr txBox="1"/>
          <p:nvPr/>
        </p:nvSpPr>
        <p:spPr>
          <a:xfrm>
            <a:off x="1778000" y="2336800"/>
            <a:ext cx="1397100" cy="381000"/>
          </a:xfrm>
          <a:prstGeom prst="rect">
            <a:avLst/>
          </a:prstGeom>
          <a:noFill/>
          <a:ln>
            <a:noFill/>
          </a:ln>
        </p:spPr>
        <p:txBody>
          <a:bodyPr anchorCtr="0" anchor="t" bIns="91425" lIns="91425" spcFirstLastPara="1" rIns="91425" wrap="square" tIns="91425">
            <a:noAutofit/>
          </a:bodyPr>
          <a:lstStyle/>
          <a:p>
            <a:pPr indent="0" lvl="0" marL="0" rtl="0" algn="l">
              <a:lnSpc>
                <a:spcPct val="124000"/>
              </a:lnSpc>
              <a:spcBef>
                <a:spcPts val="0"/>
              </a:spcBef>
              <a:spcAft>
                <a:spcPts val="0"/>
              </a:spcAft>
              <a:buNone/>
            </a:pPr>
            <a:r>
              <a:rPr lang="en" sz="800">
                <a:solidFill>
                  <a:srgbClr val="5FCFAE"/>
                </a:solidFill>
                <a:latin typeface="Roboto Mono"/>
                <a:ea typeface="Roboto Mono"/>
                <a:cs typeface="Roboto Mono"/>
                <a:sym typeface="Roboto Mono"/>
              </a:rPr>
              <a:t>METHOD 02</a:t>
            </a:r>
            <a:endParaRPr sz="800">
              <a:solidFill>
                <a:srgbClr val="5FCFAE"/>
              </a:solidFill>
              <a:latin typeface="Roboto Mono"/>
              <a:ea typeface="Roboto Mono"/>
              <a:cs typeface="Roboto Mono"/>
              <a:sym typeface="Roboto Mono"/>
            </a:endParaRPr>
          </a:p>
          <a:p>
            <a:pPr indent="0" lvl="0" marL="0" rtl="0" algn="l">
              <a:lnSpc>
                <a:spcPct val="124000"/>
              </a:lnSpc>
              <a:spcBef>
                <a:spcPts val="0"/>
              </a:spcBef>
              <a:spcAft>
                <a:spcPts val="0"/>
              </a:spcAft>
              <a:buNone/>
            </a:pPr>
            <a:r>
              <a:rPr b="1" lang="en" sz="1100">
                <a:solidFill>
                  <a:srgbClr val="E9E7E2"/>
                </a:solidFill>
                <a:latin typeface="Inter"/>
                <a:ea typeface="Inter"/>
                <a:cs typeface="Inter"/>
                <a:sym typeface="Inter"/>
              </a:rPr>
              <a:t>Entailment</a:t>
            </a:r>
            <a:endParaRPr b="1" sz="1100">
              <a:solidFill>
                <a:srgbClr val="E9E7E2"/>
              </a:solidFill>
              <a:latin typeface="Inter"/>
              <a:ea typeface="Inter"/>
              <a:cs typeface="Inter"/>
              <a:sym typeface="Inter"/>
            </a:endParaRPr>
          </a:p>
        </p:txBody>
      </p:sp>
      <p:sp>
        <p:nvSpPr>
          <p:cNvPr id="96" name="Google Shape;96;p15"/>
          <p:cNvSpPr txBox="1"/>
          <p:nvPr/>
        </p:nvSpPr>
        <p:spPr>
          <a:xfrm>
            <a:off x="3327400" y="2298700"/>
            <a:ext cx="5207100" cy="635100"/>
          </a:xfrm>
          <a:prstGeom prst="rect">
            <a:avLst/>
          </a:prstGeom>
          <a:noFill/>
          <a:ln>
            <a:noFill/>
          </a:ln>
        </p:spPr>
        <p:txBody>
          <a:bodyPr anchorCtr="0" anchor="t" bIns="91425" lIns="91425" spcFirstLastPara="1" rIns="91425" wrap="square" tIns="91425">
            <a:noAutofit/>
          </a:bodyPr>
          <a:lstStyle/>
          <a:p>
            <a:pPr indent="0" lvl="0" marL="0" rtl="0" algn="l">
              <a:lnSpc>
                <a:spcPct val="108000"/>
              </a:lnSpc>
              <a:spcBef>
                <a:spcPts val="0"/>
              </a:spcBef>
              <a:spcAft>
                <a:spcPts val="0"/>
              </a:spcAft>
              <a:buNone/>
            </a:pPr>
            <a:r>
              <a:rPr lang="en" sz="950">
                <a:solidFill>
                  <a:srgbClr val="E9E7E2"/>
                </a:solidFill>
                <a:latin typeface="Inter"/>
                <a:ea typeface="Inter"/>
                <a:cs typeface="Inter"/>
                <a:sym typeface="Inter"/>
              </a:rPr>
              <a:t>Natural language inference — does the answer follow from the document? Reads both texts together and scores it.</a:t>
            </a:r>
            <a:r>
              <a:rPr lang="en" sz="950">
                <a:solidFill>
                  <a:srgbClr val="E9E7E2"/>
                </a:solidFill>
                <a:latin typeface="Inter"/>
                <a:ea typeface="Inter"/>
                <a:cs typeface="Inter"/>
                <a:sym typeface="Inter"/>
              </a:rPr>
              <a:t> </a:t>
            </a:r>
            <a:r>
              <a:rPr lang="en" sz="950">
                <a:solidFill>
                  <a:srgbClr val="E9E7E2"/>
                </a:solidFill>
                <a:latin typeface="Inter"/>
                <a:ea typeface="Inter"/>
                <a:cs typeface="Inter"/>
                <a:sym typeface="Inter"/>
              </a:rPr>
              <a:t>HHEM-2.1-Open — the Hughes Hallucination Evaluation Model (encoder-decoder), used as a cross-encoder · local · free</a:t>
            </a:r>
            <a:endParaRPr sz="950">
              <a:solidFill>
                <a:srgbClr val="E9E7E2"/>
              </a:solidFill>
              <a:latin typeface="Inter"/>
              <a:ea typeface="Inter"/>
              <a:cs typeface="Inter"/>
              <a:sym typeface="Inter"/>
            </a:endParaRPr>
          </a:p>
        </p:txBody>
      </p:sp>
      <p:sp>
        <p:nvSpPr>
          <p:cNvPr id="97" name="Google Shape;97;p15"/>
          <p:cNvSpPr/>
          <p:nvPr/>
        </p:nvSpPr>
        <p:spPr>
          <a:xfrm>
            <a:off x="1778000" y="29210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5"/>
          <p:cNvSpPr txBox="1"/>
          <p:nvPr/>
        </p:nvSpPr>
        <p:spPr>
          <a:xfrm>
            <a:off x="1778000" y="3073400"/>
            <a:ext cx="1397100" cy="381000"/>
          </a:xfrm>
          <a:prstGeom prst="rect">
            <a:avLst/>
          </a:prstGeom>
          <a:noFill/>
          <a:ln>
            <a:noFill/>
          </a:ln>
        </p:spPr>
        <p:txBody>
          <a:bodyPr anchorCtr="0" anchor="t" bIns="91425" lIns="91425" spcFirstLastPara="1" rIns="91425" wrap="square" tIns="91425">
            <a:noAutofit/>
          </a:bodyPr>
          <a:lstStyle/>
          <a:p>
            <a:pPr indent="0" lvl="0" marL="0" rtl="0" algn="l">
              <a:lnSpc>
                <a:spcPct val="124000"/>
              </a:lnSpc>
              <a:spcBef>
                <a:spcPts val="0"/>
              </a:spcBef>
              <a:spcAft>
                <a:spcPts val="0"/>
              </a:spcAft>
              <a:buNone/>
            </a:pPr>
            <a:r>
              <a:rPr lang="en" sz="800">
                <a:solidFill>
                  <a:srgbClr val="5FCFAE"/>
                </a:solidFill>
                <a:latin typeface="Roboto Mono"/>
                <a:ea typeface="Roboto Mono"/>
                <a:cs typeface="Roboto Mono"/>
                <a:sym typeface="Roboto Mono"/>
              </a:rPr>
              <a:t>METHOD 03</a:t>
            </a:r>
            <a:endParaRPr sz="800">
              <a:solidFill>
                <a:srgbClr val="5FCFAE"/>
              </a:solidFill>
              <a:latin typeface="Roboto Mono"/>
              <a:ea typeface="Roboto Mono"/>
              <a:cs typeface="Roboto Mono"/>
              <a:sym typeface="Roboto Mono"/>
            </a:endParaRPr>
          </a:p>
          <a:p>
            <a:pPr indent="0" lvl="0" marL="0" rtl="0" algn="l">
              <a:lnSpc>
                <a:spcPct val="124000"/>
              </a:lnSpc>
              <a:spcBef>
                <a:spcPts val="0"/>
              </a:spcBef>
              <a:spcAft>
                <a:spcPts val="0"/>
              </a:spcAft>
              <a:buNone/>
            </a:pPr>
            <a:r>
              <a:rPr b="1" lang="en" sz="1100">
                <a:solidFill>
                  <a:srgbClr val="E9E7E2"/>
                </a:solidFill>
                <a:latin typeface="Inter"/>
                <a:ea typeface="Inter"/>
                <a:cs typeface="Inter"/>
                <a:sym typeface="Inter"/>
              </a:rPr>
              <a:t>AI judge</a:t>
            </a:r>
            <a:endParaRPr b="1" sz="1100">
              <a:solidFill>
                <a:srgbClr val="E9E7E2"/>
              </a:solidFill>
              <a:latin typeface="Inter"/>
              <a:ea typeface="Inter"/>
              <a:cs typeface="Inter"/>
              <a:sym typeface="Inter"/>
            </a:endParaRPr>
          </a:p>
        </p:txBody>
      </p:sp>
      <p:sp>
        <p:nvSpPr>
          <p:cNvPr id="99" name="Google Shape;99;p15"/>
          <p:cNvSpPr txBox="1"/>
          <p:nvPr/>
        </p:nvSpPr>
        <p:spPr>
          <a:xfrm>
            <a:off x="3327400" y="3035300"/>
            <a:ext cx="5207100" cy="635100"/>
          </a:xfrm>
          <a:prstGeom prst="rect">
            <a:avLst/>
          </a:prstGeom>
          <a:noFill/>
          <a:ln>
            <a:noFill/>
          </a:ln>
        </p:spPr>
        <p:txBody>
          <a:bodyPr anchorCtr="0" anchor="t" bIns="91425" lIns="91425" spcFirstLastPara="1" rIns="91425" wrap="square" tIns="91425">
            <a:noAutofit/>
          </a:bodyPr>
          <a:lstStyle/>
          <a:p>
            <a:pPr indent="0" lvl="0" marL="0" rtl="0" algn="l">
              <a:lnSpc>
                <a:spcPct val="108000"/>
              </a:lnSpc>
              <a:spcBef>
                <a:spcPts val="0"/>
              </a:spcBef>
              <a:spcAft>
                <a:spcPts val="0"/>
              </a:spcAft>
              <a:buNone/>
            </a:pPr>
            <a:r>
              <a:rPr lang="en" sz="950">
                <a:solidFill>
                  <a:srgbClr val="E9E7E2"/>
                </a:solidFill>
                <a:latin typeface="Inter"/>
                <a:ea typeface="Inter"/>
                <a:cs typeface="Inter"/>
                <a:sym typeface="Inter"/>
              </a:rPr>
              <a:t>Given both texts and a fixed instruction: return a verdict, and say what it considers unsupported. </a:t>
            </a:r>
            <a:r>
              <a:rPr lang="en" sz="950">
                <a:solidFill>
                  <a:srgbClr val="E9E7E2"/>
                </a:solidFill>
                <a:latin typeface="Inter"/>
                <a:ea typeface="Inter"/>
                <a:cs typeface="Inter"/>
                <a:sym typeface="Inter"/>
              </a:rPr>
              <a:t>gpt-oss-120b — OpenAI’s open-weight model (decoder-only), prompted not fine-tuned · 120 billion parameters, on Groq’s free tier</a:t>
            </a:r>
            <a:endParaRPr sz="950">
              <a:solidFill>
                <a:srgbClr val="E9E7E2"/>
              </a:solidFill>
              <a:latin typeface="Inter"/>
              <a:ea typeface="Inter"/>
              <a:cs typeface="Inter"/>
              <a:sym typeface="Inter"/>
            </a:endParaRPr>
          </a:p>
        </p:txBody>
      </p:sp>
      <p:sp>
        <p:nvSpPr>
          <p:cNvPr id="100" name="Google Shape;100;p15"/>
          <p:cNvSpPr/>
          <p:nvPr/>
        </p:nvSpPr>
        <p:spPr>
          <a:xfrm>
            <a:off x="1778000" y="36576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5"/>
          <p:cNvSpPr txBox="1"/>
          <p:nvPr/>
        </p:nvSpPr>
        <p:spPr>
          <a:xfrm>
            <a:off x="1778000" y="3962400"/>
            <a:ext cx="6756300" cy="4572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 sz="1000">
                <a:solidFill>
                  <a:srgbClr val="949BA8"/>
                </a:solidFill>
                <a:latin typeface="Inter"/>
                <a:ea typeface="Inter"/>
                <a:cs typeface="Inter"/>
                <a:sym typeface="Inter"/>
              </a:rPr>
              <a:t>Built for one person with a document that matters — a contract, a medical article, a report — not for a team running an AI platform.</a:t>
            </a:r>
            <a:endParaRPr sz="1000">
              <a:solidFill>
                <a:srgbClr val="949BA8"/>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232"/>
        </a:solidFill>
      </p:bgPr>
    </p:bg>
    <p:spTree>
      <p:nvGrpSpPr>
        <p:cNvPr id="105" name="Shape 105"/>
        <p:cNvGrpSpPr/>
        <p:nvPr/>
      </p:nvGrpSpPr>
      <p:grpSpPr>
        <a:xfrm>
          <a:off x="0" y="0"/>
          <a:ext cx="0" cy="0"/>
          <a:chOff x="0" y="0"/>
          <a:chExt cx="0" cy="0"/>
        </a:xfrm>
      </p:grpSpPr>
      <p:sp>
        <p:nvSpPr>
          <p:cNvPr id="106" name="Google Shape;106;p16"/>
          <p:cNvSpPr txBox="1"/>
          <p:nvPr/>
        </p:nvSpPr>
        <p:spPr>
          <a:xfrm>
            <a:off x="558800" y="533400"/>
            <a:ext cx="1066800" cy="5079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03</a:t>
            </a:r>
            <a:endParaRPr sz="800">
              <a:solidFill>
                <a:srgbClr val="949BA8"/>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STACK</a:t>
            </a:r>
            <a:endParaRPr sz="800">
              <a:solidFill>
                <a:srgbClr val="949BA8"/>
              </a:solidFill>
              <a:latin typeface="Roboto Mono"/>
              <a:ea typeface="Roboto Mono"/>
              <a:cs typeface="Roboto Mono"/>
              <a:sym typeface="Roboto Mono"/>
            </a:endParaRPr>
          </a:p>
        </p:txBody>
      </p:sp>
      <p:sp>
        <p:nvSpPr>
          <p:cNvPr id="107" name="Google Shape;107;p16"/>
          <p:cNvSpPr/>
          <p:nvPr/>
        </p:nvSpPr>
        <p:spPr>
          <a:xfrm>
            <a:off x="558800" y="4572000"/>
            <a:ext cx="79248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6"/>
          <p:cNvSpPr txBox="1"/>
          <p:nvPr/>
        </p:nvSpPr>
        <p:spPr>
          <a:xfrm>
            <a:off x="558800" y="4673600"/>
            <a:ext cx="3810000" cy="17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750">
                <a:solidFill>
                  <a:srgbClr val="949BA8"/>
                </a:solidFill>
                <a:latin typeface="Roboto Mono"/>
                <a:ea typeface="Roboto Mono"/>
                <a:cs typeface="Roboto Mono"/>
                <a:sym typeface="Roboto Mono"/>
              </a:rPr>
              <a:t>AI OUTPUT AUDITOR</a:t>
            </a:r>
            <a:endParaRPr sz="750">
              <a:solidFill>
                <a:srgbClr val="949BA8"/>
              </a:solidFill>
              <a:latin typeface="Roboto Mono"/>
              <a:ea typeface="Roboto Mono"/>
              <a:cs typeface="Roboto Mono"/>
              <a:sym typeface="Roboto Mono"/>
            </a:endParaRPr>
          </a:p>
        </p:txBody>
      </p:sp>
      <p:sp>
        <p:nvSpPr>
          <p:cNvPr id="109" name="Google Shape;109;p16"/>
          <p:cNvSpPr txBox="1"/>
          <p:nvPr/>
        </p:nvSpPr>
        <p:spPr>
          <a:xfrm>
            <a:off x="4724400" y="4673600"/>
            <a:ext cx="3810000" cy="17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sz="750">
                <a:solidFill>
                  <a:srgbClr val="949BA8"/>
                </a:solidFill>
                <a:latin typeface="Roboto Mono"/>
                <a:ea typeface="Roboto Mono"/>
                <a:cs typeface="Roboto Mono"/>
                <a:sym typeface="Roboto Mono"/>
              </a:rPr>
              <a:t>EVGENIYA KOLESNIKOV</a:t>
            </a:r>
            <a:endParaRPr sz="750">
              <a:solidFill>
                <a:srgbClr val="949BA8"/>
              </a:solidFill>
              <a:latin typeface="Roboto Mono"/>
              <a:ea typeface="Roboto Mono"/>
              <a:cs typeface="Roboto Mono"/>
              <a:sym typeface="Roboto Mono"/>
            </a:endParaRPr>
          </a:p>
        </p:txBody>
      </p:sp>
      <p:sp>
        <p:nvSpPr>
          <p:cNvPr id="110" name="Google Shape;110;p16"/>
          <p:cNvSpPr txBox="1"/>
          <p:nvPr/>
        </p:nvSpPr>
        <p:spPr>
          <a:xfrm>
            <a:off x="1778000" y="508000"/>
            <a:ext cx="6756300" cy="787500"/>
          </a:xfrm>
          <a:prstGeom prst="rect">
            <a:avLst/>
          </a:prstGeom>
          <a:noFill/>
          <a:ln>
            <a:noFill/>
          </a:ln>
        </p:spPr>
        <p:txBody>
          <a:bodyPr anchorCtr="0" anchor="t" bIns="91425" lIns="91425" spcFirstLastPara="1" rIns="91425" wrap="square" tIns="91425">
            <a:noAutofit/>
          </a:bodyPr>
          <a:lstStyle/>
          <a:p>
            <a:pPr indent="0" lvl="0" marL="0" rtl="0" algn="l">
              <a:lnSpc>
                <a:spcPct val="92000"/>
              </a:lnSpc>
              <a:spcBef>
                <a:spcPts val="0"/>
              </a:spcBef>
              <a:spcAft>
                <a:spcPts val="0"/>
              </a:spcAft>
              <a:buNone/>
            </a:pPr>
            <a:r>
              <a:rPr b="1" lang="en" sz="2700">
                <a:solidFill>
                  <a:srgbClr val="E9E7E2"/>
                </a:solidFill>
                <a:latin typeface="Space Grotesk"/>
                <a:ea typeface="Space Grotesk"/>
                <a:cs typeface="Space Grotesk"/>
                <a:sym typeface="Space Grotesk"/>
              </a:rPr>
              <a:t>Three models, nothing trained from scratch</a:t>
            </a:r>
            <a:endParaRPr b="1" sz="2700">
              <a:solidFill>
                <a:srgbClr val="E9E7E2"/>
              </a:solidFill>
              <a:latin typeface="Space Grotesk"/>
              <a:ea typeface="Space Grotesk"/>
              <a:cs typeface="Space Grotesk"/>
              <a:sym typeface="Space Grotesk"/>
            </a:endParaRPr>
          </a:p>
        </p:txBody>
      </p:sp>
      <p:sp>
        <p:nvSpPr>
          <p:cNvPr id="111" name="Google Shape;111;p16"/>
          <p:cNvSpPr/>
          <p:nvPr/>
        </p:nvSpPr>
        <p:spPr>
          <a:xfrm>
            <a:off x="1778000" y="13970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6"/>
          <p:cNvSpPr txBox="1"/>
          <p:nvPr/>
        </p:nvSpPr>
        <p:spPr>
          <a:xfrm>
            <a:off x="1778000" y="1778000"/>
            <a:ext cx="13209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BUILT WITH</a:t>
            </a:r>
            <a:endParaRPr sz="800">
              <a:solidFill>
                <a:srgbClr val="5FCFAE"/>
              </a:solidFill>
              <a:latin typeface="Roboto Mono"/>
              <a:ea typeface="Roboto Mono"/>
              <a:cs typeface="Roboto Mono"/>
              <a:sym typeface="Roboto Mono"/>
            </a:endParaRPr>
          </a:p>
        </p:txBody>
      </p:sp>
      <p:sp>
        <p:nvSpPr>
          <p:cNvPr id="113" name="Google Shape;113;p16"/>
          <p:cNvSpPr txBox="1"/>
          <p:nvPr/>
        </p:nvSpPr>
        <p:spPr>
          <a:xfrm>
            <a:off x="3251200" y="1739900"/>
            <a:ext cx="52833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050">
                <a:solidFill>
                  <a:srgbClr val="E9E7E2"/>
                </a:solidFill>
                <a:latin typeface="Inter"/>
                <a:ea typeface="Inter"/>
                <a:cs typeface="Inter"/>
                <a:sym typeface="Inter"/>
              </a:rPr>
              <a:t>Python · Gradio · HuggingFace Spaces · sentence-transformers · transformers · Groq API · matplotlib · a JSONL result cache</a:t>
            </a:r>
            <a:endParaRPr sz="1050">
              <a:solidFill>
                <a:srgbClr val="E9E7E2"/>
              </a:solidFill>
              <a:latin typeface="Inter"/>
              <a:ea typeface="Inter"/>
              <a:cs typeface="Inter"/>
              <a:sym typeface="Inter"/>
            </a:endParaRPr>
          </a:p>
        </p:txBody>
      </p:sp>
      <p:sp>
        <p:nvSpPr>
          <p:cNvPr id="114" name="Google Shape;114;p16"/>
          <p:cNvSpPr/>
          <p:nvPr/>
        </p:nvSpPr>
        <p:spPr>
          <a:xfrm>
            <a:off x="1778000" y="22606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6"/>
          <p:cNvSpPr txBox="1"/>
          <p:nvPr/>
        </p:nvSpPr>
        <p:spPr>
          <a:xfrm>
            <a:off x="1778000" y="2438400"/>
            <a:ext cx="13209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THE MODELS</a:t>
            </a:r>
            <a:endParaRPr sz="800">
              <a:solidFill>
                <a:srgbClr val="5FCFAE"/>
              </a:solidFill>
              <a:latin typeface="Roboto Mono"/>
              <a:ea typeface="Roboto Mono"/>
              <a:cs typeface="Roboto Mono"/>
              <a:sym typeface="Roboto Mono"/>
            </a:endParaRPr>
          </a:p>
        </p:txBody>
      </p:sp>
      <p:sp>
        <p:nvSpPr>
          <p:cNvPr id="116" name="Google Shape;116;p16"/>
          <p:cNvSpPr txBox="1"/>
          <p:nvPr/>
        </p:nvSpPr>
        <p:spPr>
          <a:xfrm>
            <a:off x="3251200" y="2400300"/>
            <a:ext cx="52833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050">
                <a:solidFill>
                  <a:srgbClr val="E9E7E2"/>
                </a:solidFill>
                <a:latin typeface="Inter"/>
                <a:ea typeface="Inter"/>
                <a:cs typeface="Inter"/>
                <a:sym typeface="Inter"/>
              </a:rPr>
              <a:t>all-MiniLM-L6-v2 (embeddings) · HHEM-2.1-Open (entailment, built on flan-t5-base, 0.1B parameters) · gpt-oss-120b (the judge)</a:t>
            </a:r>
            <a:endParaRPr sz="1050">
              <a:solidFill>
                <a:srgbClr val="E9E7E2"/>
              </a:solidFill>
              <a:latin typeface="Inter"/>
              <a:ea typeface="Inter"/>
              <a:cs typeface="Inter"/>
              <a:sym typeface="Inter"/>
            </a:endParaRPr>
          </a:p>
        </p:txBody>
      </p:sp>
      <p:sp>
        <p:nvSpPr>
          <p:cNvPr id="117" name="Google Shape;117;p16"/>
          <p:cNvSpPr/>
          <p:nvPr/>
        </p:nvSpPr>
        <p:spPr>
          <a:xfrm>
            <a:off x="1778000" y="29210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6"/>
          <p:cNvSpPr txBox="1"/>
          <p:nvPr/>
        </p:nvSpPr>
        <p:spPr>
          <a:xfrm>
            <a:off x="1778000" y="3098800"/>
            <a:ext cx="13209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THE DATA</a:t>
            </a:r>
            <a:endParaRPr sz="800">
              <a:solidFill>
                <a:srgbClr val="5FCFAE"/>
              </a:solidFill>
              <a:latin typeface="Roboto Mono"/>
              <a:ea typeface="Roboto Mono"/>
              <a:cs typeface="Roboto Mono"/>
              <a:sym typeface="Roboto Mono"/>
            </a:endParaRPr>
          </a:p>
        </p:txBody>
      </p:sp>
      <p:sp>
        <p:nvSpPr>
          <p:cNvPr id="119" name="Google Shape;119;p16"/>
          <p:cNvSpPr txBox="1"/>
          <p:nvPr/>
        </p:nvSpPr>
        <p:spPr>
          <a:xfrm>
            <a:off x="3251200" y="3060700"/>
            <a:ext cx="52833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050">
                <a:solidFill>
                  <a:srgbClr val="E9E7E2"/>
                </a:solidFill>
                <a:latin typeface="Inter"/>
                <a:ea typeface="Inter"/>
                <a:cs typeface="Inter"/>
                <a:sym typeface="Inter"/>
              </a:rPr>
              <a:t>HaluEval — 300 human-labelled answers, split by record so no source text crosses between dev and test</a:t>
            </a:r>
            <a:endParaRPr sz="1050">
              <a:solidFill>
                <a:srgbClr val="E9E7E2"/>
              </a:solidFill>
              <a:latin typeface="Inter"/>
              <a:ea typeface="Inter"/>
              <a:cs typeface="Inter"/>
              <a:sym typeface="Inter"/>
            </a:endParaRPr>
          </a:p>
        </p:txBody>
      </p:sp>
      <p:sp>
        <p:nvSpPr>
          <p:cNvPr id="120" name="Google Shape;120;p16"/>
          <p:cNvSpPr/>
          <p:nvPr/>
        </p:nvSpPr>
        <p:spPr>
          <a:xfrm>
            <a:off x="1778000" y="35814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6"/>
          <p:cNvSpPr txBox="1"/>
          <p:nvPr/>
        </p:nvSpPr>
        <p:spPr>
          <a:xfrm>
            <a:off x="1778000" y="3759200"/>
            <a:ext cx="13209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NOT USED</a:t>
            </a:r>
            <a:endParaRPr sz="800">
              <a:solidFill>
                <a:srgbClr val="5FCFAE"/>
              </a:solidFill>
              <a:latin typeface="Roboto Mono"/>
              <a:ea typeface="Roboto Mono"/>
              <a:cs typeface="Roboto Mono"/>
              <a:sym typeface="Roboto Mono"/>
            </a:endParaRPr>
          </a:p>
        </p:txBody>
      </p:sp>
      <p:sp>
        <p:nvSpPr>
          <p:cNvPr id="122" name="Google Shape;122;p16"/>
          <p:cNvSpPr txBox="1"/>
          <p:nvPr/>
        </p:nvSpPr>
        <p:spPr>
          <a:xfrm>
            <a:off x="3251200" y="3721100"/>
            <a:ext cx="5283300" cy="7113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 sz="1050">
                <a:solidFill>
                  <a:srgbClr val="949BA8"/>
                </a:solidFill>
                <a:latin typeface="Inter"/>
                <a:ea typeface="Inter"/>
                <a:cs typeface="Inter"/>
                <a:sym typeface="Inter"/>
              </a:rPr>
              <a:t>FAISS — 80 sentences at the limit, where an index pays off at hundreds of thousands. A vector database — nothing is kept between checks. LoRA, and a fourth fine-tuned model — nothing honest to train on.</a:t>
            </a:r>
            <a:endParaRPr sz="1050">
              <a:solidFill>
                <a:srgbClr val="949BA8"/>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232"/>
        </a:solidFill>
      </p:bgPr>
    </p:bg>
    <p:spTree>
      <p:nvGrpSpPr>
        <p:cNvPr id="126" name="Shape 126"/>
        <p:cNvGrpSpPr/>
        <p:nvPr/>
      </p:nvGrpSpPr>
      <p:grpSpPr>
        <a:xfrm>
          <a:off x="0" y="0"/>
          <a:ext cx="0" cy="0"/>
          <a:chOff x="0" y="0"/>
          <a:chExt cx="0" cy="0"/>
        </a:xfrm>
      </p:grpSpPr>
      <p:sp>
        <p:nvSpPr>
          <p:cNvPr id="127" name="Google Shape;127;p17"/>
          <p:cNvSpPr txBox="1"/>
          <p:nvPr/>
        </p:nvSpPr>
        <p:spPr>
          <a:xfrm>
            <a:off x="558800" y="533400"/>
            <a:ext cx="1066800" cy="5079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04</a:t>
            </a:r>
            <a:endParaRPr sz="800">
              <a:solidFill>
                <a:srgbClr val="949BA8"/>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DEMONSTRATION</a:t>
            </a:r>
            <a:endParaRPr sz="800">
              <a:solidFill>
                <a:srgbClr val="949BA8"/>
              </a:solidFill>
              <a:latin typeface="Roboto Mono"/>
              <a:ea typeface="Roboto Mono"/>
              <a:cs typeface="Roboto Mono"/>
              <a:sym typeface="Roboto Mono"/>
            </a:endParaRPr>
          </a:p>
        </p:txBody>
      </p:sp>
      <p:sp>
        <p:nvSpPr>
          <p:cNvPr id="128" name="Google Shape;128;p17"/>
          <p:cNvSpPr/>
          <p:nvPr/>
        </p:nvSpPr>
        <p:spPr>
          <a:xfrm>
            <a:off x="558800" y="4572000"/>
            <a:ext cx="79248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7"/>
          <p:cNvSpPr txBox="1"/>
          <p:nvPr/>
        </p:nvSpPr>
        <p:spPr>
          <a:xfrm>
            <a:off x="558800" y="4673600"/>
            <a:ext cx="3810000" cy="17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750">
                <a:solidFill>
                  <a:srgbClr val="949BA8"/>
                </a:solidFill>
                <a:latin typeface="Roboto Mono"/>
                <a:ea typeface="Roboto Mono"/>
                <a:cs typeface="Roboto Mono"/>
                <a:sym typeface="Roboto Mono"/>
              </a:rPr>
              <a:t>AI OUTPUT AUDITOR</a:t>
            </a:r>
            <a:endParaRPr sz="750">
              <a:solidFill>
                <a:srgbClr val="949BA8"/>
              </a:solidFill>
              <a:latin typeface="Roboto Mono"/>
              <a:ea typeface="Roboto Mono"/>
              <a:cs typeface="Roboto Mono"/>
              <a:sym typeface="Roboto Mono"/>
            </a:endParaRPr>
          </a:p>
        </p:txBody>
      </p:sp>
      <p:sp>
        <p:nvSpPr>
          <p:cNvPr id="130" name="Google Shape;130;p17"/>
          <p:cNvSpPr txBox="1"/>
          <p:nvPr/>
        </p:nvSpPr>
        <p:spPr>
          <a:xfrm>
            <a:off x="4724400" y="4673600"/>
            <a:ext cx="3810000" cy="17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sz="750">
                <a:solidFill>
                  <a:srgbClr val="949BA8"/>
                </a:solidFill>
                <a:latin typeface="Roboto Mono"/>
                <a:ea typeface="Roboto Mono"/>
                <a:cs typeface="Roboto Mono"/>
                <a:sym typeface="Roboto Mono"/>
              </a:rPr>
              <a:t>EVGENIYA KOLESNIKOV</a:t>
            </a:r>
            <a:endParaRPr sz="750">
              <a:solidFill>
                <a:srgbClr val="949BA8"/>
              </a:solidFill>
              <a:latin typeface="Roboto Mono"/>
              <a:ea typeface="Roboto Mono"/>
              <a:cs typeface="Roboto Mono"/>
              <a:sym typeface="Roboto Mono"/>
            </a:endParaRPr>
          </a:p>
        </p:txBody>
      </p:sp>
      <p:sp>
        <p:nvSpPr>
          <p:cNvPr id="131" name="Google Shape;131;p17"/>
          <p:cNvSpPr txBox="1"/>
          <p:nvPr/>
        </p:nvSpPr>
        <p:spPr>
          <a:xfrm>
            <a:off x="1778000" y="508000"/>
            <a:ext cx="6756300" cy="787500"/>
          </a:xfrm>
          <a:prstGeom prst="rect">
            <a:avLst/>
          </a:prstGeom>
          <a:noFill/>
          <a:ln>
            <a:noFill/>
          </a:ln>
        </p:spPr>
        <p:txBody>
          <a:bodyPr anchorCtr="0" anchor="t" bIns="91425" lIns="91425" spcFirstLastPara="1" rIns="91425" wrap="square" tIns="91425">
            <a:noAutofit/>
          </a:bodyPr>
          <a:lstStyle/>
          <a:p>
            <a:pPr indent="0" lvl="0" marL="0" rtl="0" algn="l">
              <a:lnSpc>
                <a:spcPct val="92000"/>
              </a:lnSpc>
              <a:spcBef>
                <a:spcPts val="0"/>
              </a:spcBef>
              <a:spcAft>
                <a:spcPts val="0"/>
              </a:spcAft>
              <a:buNone/>
            </a:pPr>
            <a:r>
              <a:rPr b="1" lang="en" sz="2700">
                <a:solidFill>
                  <a:srgbClr val="E9E7E2"/>
                </a:solidFill>
                <a:latin typeface="Space Grotesk"/>
                <a:ea typeface="Space Grotesk"/>
                <a:cs typeface="Space Grotesk"/>
                <a:sym typeface="Space Grotesk"/>
              </a:rPr>
              <a:t>Two texts, one verdict</a:t>
            </a:r>
            <a:endParaRPr b="1" sz="2700">
              <a:solidFill>
                <a:srgbClr val="E9E7E2"/>
              </a:solidFill>
              <a:latin typeface="Space Grotesk"/>
              <a:ea typeface="Space Grotesk"/>
              <a:cs typeface="Space Grotesk"/>
              <a:sym typeface="Space Grotesk"/>
            </a:endParaRPr>
          </a:p>
        </p:txBody>
      </p:sp>
      <p:sp>
        <p:nvSpPr>
          <p:cNvPr id="132" name="Google Shape;132;p17"/>
          <p:cNvSpPr/>
          <p:nvPr/>
        </p:nvSpPr>
        <p:spPr>
          <a:xfrm>
            <a:off x="1778000" y="13970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7"/>
          <p:cNvSpPr txBox="1"/>
          <p:nvPr/>
        </p:nvSpPr>
        <p:spPr>
          <a:xfrm>
            <a:off x="1778000" y="4292600"/>
            <a:ext cx="27939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u="sng">
                <a:solidFill>
                  <a:schemeClr val="hlink"/>
                </a:solidFill>
                <a:latin typeface="Roboto Mono"/>
                <a:ea typeface="Roboto Mono"/>
                <a:cs typeface="Roboto Mono"/>
                <a:sym typeface="Roboto Mono"/>
                <a:hlinkClick r:id="rId3"/>
              </a:rPr>
              <a:t>OPEN THE LIVE DEMO →</a:t>
            </a:r>
            <a:endParaRPr sz="1000">
              <a:solidFill>
                <a:srgbClr val="5FCFAE"/>
              </a:solidFill>
              <a:latin typeface="Roboto Mono"/>
              <a:ea typeface="Roboto Mono"/>
              <a:cs typeface="Roboto Mono"/>
              <a:sym typeface="Roboto Mono"/>
            </a:endParaRPr>
          </a:p>
        </p:txBody>
      </p:sp>
      <p:pic>
        <p:nvPicPr>
          <p:cNvPr id="134" name="Google Shape;134;p17"/>
          <p:cNvPicPr preferRelativeResize="0"/>
          <p:nvPr/>
        </p:nvPicPr>
        <p:blipFill>
          <a:blip r:embed="rId4">
            <a:alphaModFix/>
          </a:blip>
          <a:stretch>
            <a:fillRect/>
          </a:stretch>
        </p:blipFill>
        <p:spPr>
          <a:xfrm>
            <a:off x="1778000" y="1727200"/>
            <a:ext cx="3400960" cy="2235201"/>
          </a:xfrm>
          <a:prstGeom prst="rect">
            <a:avLst/>
          </a:prstGeom>
          <a:noFill/>
          <a:ln>
            <a:noFill/>
          </a:ln>
        </p:spPr>
      </p:pic>
      <p:sp>
        <p:nvSpPr>
          <p:cNvPr id="135" name="Google Shape;135;p17"/>
          <p:cNvSpPr txBox="1"/>
          <p:nvPr/>
        </p:nvSpPr>
        <p:spPr>
          <a:xfrm>
            <a:off x="5483758" y="1727200"/>
            <a:ext cx="1905000" cy="17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YOU GIVE</a:t>
            </a:r>
            <a:endParaRPr sz="800">
              <a:solidFill>
                <a:srgbClr val="5FCFAE"/>
              </a:solidFill>
              <a:latin typeface="Roboto Mono"/>
              <a:ea typeface="Roboto Mono"/>
              <a:cs typeface="Roboto Mono"/>
              <a:sym typeface="Roboto Mono"/>
            </a:endParaRPr>
          </a:p>
        </p:txBody>
      </p:sp>
      <p:sp>
        <p:nvSpPr>
          <p:cNvPr id="136" name="Google Shape;136;p17"/>
          <p:cNvSpPr txBox="1"/>
          <p:nvPr/>
        </p:nvSpPr>
        <p:spPr>
          <a:xfrm>
            <a:off x="5483758" y="1905000"/>
            <a:ext cx="3050700" cy="6858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 sz="950">
                <a:solidFill>
                  <a:srgbClr val="949BA8"/>
                </a:solidFill>
                <a:latin typeface="Inter"/>
                <a:ea typeface="Inter"/>
                <a:cs typeface="Inter"/>
                <a:sym typeface="Inter"/>
              </a:rPr>
              <a:t>Your document, and the answer an AI gave you about it.</a:t>
            </a:r>
            <a:endParaRPr sz="950">
              <a:solidFill>
                <a:srgbClr val="949BA8"/>
              </a:solidFill>
              <a:latin typeface="Inter"/>
              <a:ea typeface="Inter"/>
              <a:cs typeface="Inter"/>
              <a:sym typeface="Inter"/>
            </a:endParaRPr>
          </a:p>
        </p:txBody>
      </p:sp>
      <p:sp>
        <p:nvSpPr>
          <p:cNvPr id="137" name="Google Shape;137;p17"/>
          <p:cNvSpPr txBox="1"/>
          <p:nvPr/>
        </p:nvSpPr>
        <p:spPr>
          <a:xfrm>
            <a:off x="5483758" y="2489200"/>
            <a:ext cx="1905000" cy="17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YOU GET</a:t>
            </a:r>
            <a:endParaRPr sz="800">
              <a:solidFill>
                <a:srgbClr val="5FCFAE"/>
              </a:solidFill>
              <a:latin typeface="Roboto Mono"/>
              <a:ea typeface="Roboto Mono"/>
              <a:cs typeface="Roboto Mono"/>
              <a:sym typeface="Roboto Mono"/>
            </a:endParaRPr>
          </a:p>
        </p:txBody>
      </p:sp>
      <p:sp>
        <p:nvSpPr>
          <p:cNvPr id="138" name="Google Shape;138;p17"/>
          <p:cNvSpPr txBox="1"/>
          <p:nvPr/>
        </p:nvSpPr>
        <p:spPr>
          <a:xfrm>
            <a:off x="5483758" y="2667000"/>
            <a:ext cx="3050700" cy="6858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 sz="950">
                <a:solidFill>
                  <a:srgbClr val="949BA8"/>
                </a:solidFill>
                <a:latin typeface="Inter"/>
                <a:ea typeface="Inter"/>
                <a:cs typeface="Inter"/>
                <a:sym typeface="Inter"/>
              </a:rPr>
              <a:t>One verdict, the sentence the judge objected to, and what all three methods thought.</a:t>
            </a:r>
            <a:endParaRPr sz="950">
              <a:solidFill>
                <a:srgbClr val="949BA8"/>
              </a:solidFill>
              <a:latin typeface="Inter"/>
              <a:ea typeface="Inter"/>
              <a:cs typeface="Inter"/>
              <a:sym typeface="Inter"/>
            </a:endParaRPr>
          </a:p>
        </p:txBody>
      </p:sp>
      <p:sp>
        <p:nvSpPr>
          <p:cNvPr id="139" name="Google Shape;139;p17"/>
          <p:cNvSpPr txBox="1"/>
          <p:nvPr/>
        </p:nvSpPr>
        <p:spPr>
          <a:xfrm>
            <a:off x="5483758" y="3251200"/>
            <a:ext cx="1905000" cy="17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LIMITS</a:t>
            </a:r>
            <a:endParaRPr sz="800">
              <a:solidFill>
                <a:srgbClr val="5FCFAE"/>
              </a:solidFill>
              <a:latin typeface="Roboto Mono"/>
              <a:ea typeface="Roboto Mono"/>
              <a:cs typeface="Roboto Mono"/>
              <a:sym typeface="Roboto Mono"/>
            </a:endParaRPr>
          </a:p>
        </p:txBody>
      </p:sp>
      <p:sp>
        <p:nvSpPr>
          <p:cNvPr id="140" name="Google Shape;140;p17"/>
          <p:cNvSpPr txBox="1"/>
          <p:nvPr/>
        </p:nvSpPr>
        <p:spPr>
          <a:xfrm>
            <a:off x="5483758" y="3429000"/>
            <a:ext cx="3050700" cy="6858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 sz="950">
                <a:solidFill>
                  <a:srgbClr val="949BA8"/>
                </a:solidFill>
                <a:latin typeface="Inter"/>
                <a:ea typeface="Inter"/>
                <a:cs typeface="Inter"/>
                <a:sym typeface="Inter"/>
              </a:rPr>
              <a:t>10,000 characters. English only. You supply the source — it checks grounding, not truth.</a:t>
            </a:r>
            <a:endParaRPr sz="950">
              <a:solidFill>
                <a:srgbClr val="949BA8"/>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232"/>
        </a:solidFill>
      </p:bgPr>
    </p:bg>
    <p:spTree>
      <p:nvGrpSpPr>
        <p:cNvPr id="144" name="Shape 144"/>
        <p:cNvGrpSpPr/>
        <p:nvPr/>
      </p:nvGrpSpPr>
      <p:grpSpPr>
        <a:xfrm>
          <a:off x="0" y="0"/>
          <a:ext cx="0" cy="0"/>
          <a:chOff x="0" y="0"/>
          <a:chExt cx="0" cy="0"/>
        </a:xfrm>
      </p:grpSpPr>
      <p:sp>
        <p:nvSpPr>
          <p:cNvPr id="145" name="Google Shape;145;p18"/>
          <p:cNvSpPr txBox="1"/>
          <p:nvPr/>
        </p:nvSpPr>
        <p:spPr>
          <a:xfrm>
            <a:off x="558800" y="533400"/>
            <a:ext cx="1066800" cy="5079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05</a:t>
            </a:r>
            <a:endParaRPr sz="800">
              <a:solidFill>
                <a:srgbClr val="949BA8"/>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WHAT I</a:t>
            </a:r>
            <a:endParaRPr sz="800">
              <a:solidFill>
                <a:srgbClr val="949BA8"/>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MEASURED</a:t>
            </a:r>
            <a:endParaRPr sz="800">
              <a:solidFill>
                <a:srgbClr val="949BA8"/>
              </a:solidFill>
              <a:latin typeface="Roboto Mono"/>
              <a:ea typeface="Roboto Mono"/>
              <a:cs typeface="Roboto Mono"/>
              <a:sym typeface="Roboto Mono"/>
            </a:endParaRPr>
          </a:p>
        </p:txBody>
      </p:sp>
      <p:sp>
        <p:nvSpPr>
          <p:cNvPr id="146" name="Google Shape;146;p18"/>
          <p:cNvSpPr/>
          <p:nvPr/>
        </p:nvSpPr>
        <p:spPr>
          <a:xfrm>
            <a:off x="558800" y="4572000"/>
            <a:ext cx="79248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18"/>
          <p:cNvSpPr txBox="1"/>
          <p:nvPr/>
        </p:nvSpPr>
        <p:spPr>
          <a:xfrm>
            <a:off x="558800" y="4673600"/>
            <a:ext cx="3810000" cy="17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750">
                <a:solidFill>
                  <a:srgbClr val="949BA8"/>
                </a:solidFill>
                <a:latin typeface="Roboto Mono"/>
                <a:ea typeface="Roboto Mono"/>
                <a:cs typeface="Roboto Mono"/>
                <a:sym typeface="Roboto Mono"/>
              </a:rPr>
              <a:t>AI OUTPUT AUDITOR</a:t>
            </a:r>
            <a:endParaRPr sz="750">
              <a:solidFill>
                <a:srgbClr val="949BA8"/>
              </a:solidFill>
              <a:latin typeface="Roboto Mono"/>
              <a:ea typeface="Roboto Mono"/>
              <a:cs typeface="Roboto Mono"/>
              <a:sym typeface="Roboto Mono"/>
            </a:endParaRPr>
          </a:p>
        </p:txBody>
      </p:sp>
      <p:sp>
        <p:nvSpPr>
          <p:cNvPr id="148" name="Google Shape;148;p18"/>
          <p:cNvSpPr txBox="1"/>
          <p:nvPr/>
        </p:nvSpPr>
        <p:spPr>
          <a:xfrm>
            <a:off x="4724400" y="4673600"/>
            <a:ext cx="3810000" cy="17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sz="750">
                <a:solidFill>
                  <a:srgbClr val="949BA8"/>
                </a:solidFill>
                <a:latin typeface="Roboto Mono"/>
                <a:ea typeface="Roboto Mono"/>
                <a:cs typeface="Roboto Mono"/>
                <a:sym typeface="Roboto Mono"/>
              </a:rPr>
              <a:t>EVGENIYA KOLESNIKOV</a:t>
            </a:r>
            <a:endParaRPr sz="750">
              <a:solidFill>
                <a:srgbClr val="949BA8"/>
              </a:solidFill>
              <a:latin typeface="Roboto Mono"/>
              <a:ea typeface="Roboto Mono"/>
              <a:cs typeface="Roboto Mono"/>
              <a:sym typeface="Roboto Mono"/>
            </a:endParaRPr>
          </a:p>
        </p:txBody>
      </p:sp>
      <p:sp>
        <p:nvSpPr>
          <p:cNvPr id="149" name="Google Shape;149;p18"/>
          <p:cNvSpPr txBox="1"/>
          <p:nvPr/>
        </p:nvSpPr>
        <p:spPr>
          <a:xfrm>
            <a:off x="1778000" y="508000"/>
            <a:ext cx="6756300" cy="787500"/>
          </a:xfrm>
          <a:prstGeom prst="rect">
            <a:avLst/>
          </a:prstGeom>
          <a:noFill/>
          <a:ln>
            <a:noFill/>
          </a:ln>
        </p:spPr>
        <p:txBody>
          <a:bodyPr anchorCtr="0" anchor="t" bIns="91425" lIns="91425" spcFirstLastPara="1" rIns="91425" wrap="square" tIns="91425">
            <a:noAutofit/>
          </a:bodyPr>
          <a:lstStyle/>
          <a:p>
            <a:pPr indent="0" lvl="0" marL="0" rtl="0" algn="l">
              <a:lnSpc>
                <a:spcPct val="92000"/>
              </a:lnSpc>
              <a:spcBef>
                <a:spcPts val="0"/>
              </a:spcBef>
              <a:spcAft>
                <a:spcPts val="0"/>
              </a:spcAft>
              <a:buNone/>
            </a:pPr>
            <a:r>
              <a:rPr b="1" lang="en" sz="2700">
                <a:solidFill>
                  <a:srgbClr val="E9E7E2"/>
                </a:solidFill>
                <a:latin typeface="Space Grotesk"/>
                <a:ea typeface="Space Grotesk"/>
                <a:cs typeface="Space Grotesk"/>
                <a:sym typeface="Space Grotesk"/>
              </a:rPr>
              <a:t>The obvious method is worse than a coin toss</a:t>
            </a:r>
            <a:endParaRPr b="1" sz="2700">
              <a:solidFill>
                <a:srgbClr val="E9E7E2"/>
              </a:solidFill>
              <a:latin typeface="Space Grotesk"/>
              <a:ea typeface="Space Grotesk"/>
              <a:cs typeface="Space Grotesk"/>
              <a:sym typeface="Space Grotesk"/>
            </a:endParaRPr>
          </a:p>
        </p:txBody>
      </p:sp>
      <p:sp>
        <p:nvSpPr>
          <p:cNvPr id="150" name="Google Shape;150;p18"/>
          <p:cNvSpPr/>
          <p:nvPr/>
        </p:nvSpPr>
        <p:spPr>
          <a:xfrm>
            <a:off x="1778000" y="13970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18"/>
          <p:cNvSpPr txBox="1"/>
          <p:nvPr/>
        </p:nvSpPr>
        <p:spPr>
          <a:xfrm>
            <a:off x="1778000" y="1752600"/>
            <a:ext cx="1092300" cy="45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600">
                <a:solidFill>
                  <a:srgbClr val="E9E7E2"/>
                </a:solidFill>
                <a:latin typeface="Space Grotesk"/>
                <a:ea typeface="Space Grotesk"/>
                <a:cs typeface="Space Grotesk"/>
                <a:sym typeface="Space Grotesk"/>
              </a:rPr>
              <a:t>36%</a:t>
            </a:r>
            <a:endParaRPr b="1" sz="2600">
              <a:solidFill>
                <a:srgbClr val="E9E7E2"/>
              </a:solidFill>
              <a:latin typeface="Space Grotesk"/>
              <a:ea typeface="Space Grotesk"/>
              <a:cs typeface="Space Grotesk"/>
              <a:sym typeface="Space Grotesk"/>
            </a:endParaRPr>
          </a:p>
        </p:txBody>
      </p:sp>
      <p:sp>
        <p:nvSpPr>
          <p:cNvPr id="152" name="Google Shape;152;p18"/>
          <p:cNvSpPr txBox="1"/>
          <p:nvPr/>
        </p:nvSpPr>
        <p:spPr>
          <a:xfrm>
            <a:off x="2997200" y="1778000"/>
            <a:ext cx="21591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150">
                <a:solidFill>
                  <a:srgbClr val="E9E7E2"/>
                </a:solidFill>
                <a:latin typeface="Inter"/>
                <a:ea typeface="Inter"/>
                <a:cs typeface="Inter"/>
                <a:sym typeface="Inter"/>
              </a:rPr>
              <a:t>Text similarity</a:t>
            </a:r>
            <a:endParaRPr b="1" sz="1150">
              <a:solidFill>
                <a:srgbClr val="E9E7E2"/>
              </a:solidFill>
              <a:latin typeface="Inter"/>
              <a:ea typeface="Inter"/>
              <a:cs typeface="Inter"/>
              <a:sym typeface="Inter"/>
            </a:endParaRPr>
          </a:p>
        </p:txBody>
      </p:sp>
      <p:sp>
        <p:nvSpPr>
          <p:cNvPr id="153" name="Google Shape;153;p18"/>
          <p:cNvSpPr txBox="1"/>
          <p:nvPr/>
        </p:nvSpPr>
        <p:spPr>
          <a:xfrm>
            <a:off x="2997200" y="2006600"/>
            <a:ext cx="38100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rgbClr val="949BA8"/>
                </a:solidFill>
                <a:latin typeface="Roboto Mono"/>
                <a:ea typeface="Roboto Mono"/>
                <a:cs typeface="Roboto Mono"/>
                <a:sym typeface="Roboto Mono"/>
              </a:rPr>
              <a:t>catches 13% of errors · free · instant</a:t>
            </a:r>
            <a:endParaRPr sz="900">
              <a:solidFill>
                <a:srgbClr val="949BA8"/>
              </a:solidFill>
              <a:latin typeface="Roboto Mono"/>
              <a:ea typeface="Roboto Mono"/>
              <a:cs typeface="Roboto Mono"/>
              <a:sym typeface="Roboto Mono"/>
            </a:endParaRPr>
          </a:p>
        </p:txBody>
      </p:sp>
      <p:sp>
        <p:nvSpPr>
          <p:cNvPr id="154" name="Google Shape;154;p18"/>
          <p:cNvSpPr/>
          <p:nvPr/>
        </p:nvSpPr>
        <p:spPr>
          <a:xfrm>
            <a:off x="1778000" y="23114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8"/>
          <p:cNvSpPr txBox="1"/>
          <p:nvPr/>
        </p:nvSpPr>
        <p:spPr>
          <a:xfrm>
            <a:off x="1778000" y="2438400"/>
            <a:ext cx="1092300" cy="45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600">
                <a:solidFill>
                  <a:srgbClr val="E9E7E2"/>
                </a:solidFill>
                <a:latin typeface="Space Grotesk"/>
                <a:ea typeface="Space Grotesk"/>
                <a:cs typeface="Space Grotesk"/>
                <a:sym typeface="Space Grotesk"/>
              </a:rPr>
              <a:t>64%</a:t>
            </a:r>
            <a:endParaRPr b="1" sz="2600">
              <a:solidFill>
                <a:srgbClr val="E9E7E2"/>
              </a:solidFill>
              <a:latin typeface="Space Grotesk"/>
              <a:ea typeface="Space Grotesk"/>
              <a:cs typeface="Space Grotesk"/>
              <a:sym typeface="Space Grotesk"/>
            </a:endParaRPr>
          </a:p>
        </p:txBody>
      </p:sp>
      <p:sp>
        <p:nvSpPr>
          <p:cNvPr id="156" name="Google Shape;156;p18"/>
          <p:cNvSpPr txBox="1"/>
          <p:nvPr/>
        </p:nvSpPr>
        <p:spPr>
          <a:xfrm>
            <a:off x="2997200" y="2463800"/>
            <a:ext cx="21591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150">
                <a:solidFill>
                  <a:srgbClr val="E9E7E2"/>
                </a:solidFill>
                <a:latin typeface="Inter"/>
                <a:ea typeface="Inter"/>
                <a:cs typeface="Inter"/>
                <a:sym typeface="Inter"/>
              </a:rPr>
              <a:t>Entailment</a:t>
            </a:r>
            <a:endParaRPr b="1" sz="1150">
              <a:solidFill>
                <a:srgbClr val="E9E7E2"/>
              </a:solidFill>
              <a:latin typeface="Inter"/>
              <a:ea typeface="Inter"/>
              <a:cs typeface="Inter"/>
              <a:sym typeface="Inter"/>
            </a:endParaRPr>
          </a:p>
        </p:txBody>
      </p:sp>
      <p:sp>
        <p:nvSpPr>
          <p:cNvPr id="157" name="Google Shape;157;p18"/>
          <p:cNvSpPr txBox="1"/>
          <p:nvPr/>
        </p:nvSpPr>
        <p:spPr>
          <a:xfrm>
            <a:off x="2997200" y="2692400"/>
            <a:ext cx="38100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rgbClr val="949BA8"/>
                </a:solidFill>
                <a:latin typeface="Roboto Mono"/>
                <a:ea typeface="Roboto Mono"/>
                <a:cs typeface="Roboto Mono"/>
                <a:sym typeface="Roboto Mono"/>
              </a:rPr>
              <a:t>catches 42% of errors · free · instant</a:t>
            </a:r>
            <a:endParaRPr sz="900">
              <a:solidFill>
                <a:srgbClr val="949BA8"/>
              </a:solidFill>
              <a:latin typeface="Roboto Mono"/>
              <a:ea typeface="Roboto Mono"/>
              <a:cs typeface="Roboto Mono"/>
              <a:sym typeface="Roboto Mono"/>
            </a:endParaRPr>
          </a:p>
        </p:txBody>
      </p:sp>
      <p:sp>
        <p:nvSpPr>
          <p:cNvPr id="158" name="Google Shape;158;p18"/>
          <p:cNvSpPr/>
          <p:nvPr/>
        </p:nvSpPr>
        <p:spPr>
          <a:xfrm>
            <a:off x="1778000" y="29972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18"/>
          <p:cNvSpPr txBox="1"/>
          <p:nvPr/>
        </p:nvSpPr>
        <p:spPr>
          <a:xfrm>
            <a:off x="1778000" y="3124200"/>
            <a:ext cx="1092300" cy="45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600">
                <a:solidFill>
                  <a:srgbClr val="5FCFAE"/>
                </a:solidFill>
                <a:latin typeface="Space Grotesk"/>
                <a:ea typeface="Space Grotesk"/>
                <a:cs typeface="Space Grotesk"/>
                <a:sym typeface="Space Grotesk"/>
              </a:rPr>
              <a:t>82%</a:t>
            </a:r>
            <a:endParaRPr b="1" sz="2600">
              <a:solidFill>
                <a:srgbClr val="5FCFAE"/>
              </a:solidFill>
              <a:latin typeface="Space Grotesk"/>
              <a:ea typeface="Space Grotesk"/>
              <a:cs typeface="Space Grotesk"/>
              <a:sym typeface="Space Grotesk"/>
            </a:endParaRPr>
          </a:p>
        </p:txBody>
      </p:sp>
      <p:sp>
        <p:nvSpPr>
          <p:cNvPr id="160" name="Google Shape;160;p18"/>
          <p:cNvSpPr txBox="1"/>
          <p:nvPr/>
        </p:nvSpPr>
        <p:spPr>
          <a:xfrm>
            <a:off x="2997200" y="3149600"/>
            <a:ext cx="21591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150">
                <a:solidFill>
                  <a:srgbClr val="E9E7E2"/>
                </a:solidFill>
                <a:latin typeface="Inter"/>
                <a:ea typeface="Inter"/>
                <a:cs typeface="Inter"/>
                <a:sym typeface="Inter"/>
              </a:rPr>
              <a:t>AI judge</a:t>
            </a:r>
            <a:endParaRPr b="1" sz="1150">
              <a:solidFill>
                <a:srgbClr val="E9E7E2"/>
              </a:solidFill>
              <a:latin typeface="Inter"/>
              <a:ea typeface="Inter"/>
              <a:cs typeface="Inter"/>
              <a:sym typeface="Inter"/>
            </a:endParaRPr>
          </a:p>
        </p:txBody>
      </p:sp>
      <p:sp>
        <p:nvSpPr>
          <p:cNvPr id="161" name="Google Shape;161;p18"/>
          <p:cNvSpPr txBox="1"/>
          <p:nvPr/>
        </p:nvSpPr>
        <p:spPr>
          <a:xfrm>
            <a:off x="2997200" y="3378200"/>
            <a:ext cx="55245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rgbClr val="949BA8"/>
                </a:solidFill>
                <a:latin typeface="Roboto Mono"/>
                <a:ea typeface="Roboto Mono"/>
                <a:cs typeface="Roboto Mono"/>
                <a:sym typeface="Roboto Mono"/>
              </a:rPr>
              <a:t>catches 79% of errors · $0.29 per 1,000 checks · 1.1 s</a:t>
            </a:r>
            <a:endParaRPr sz="900">
              <a:solidFill>
                <a:srgbClr val="949BA8"/>
              </a:solidFill>
              <a:latin typeface="Roboto Mono"/>
              <a:ea typeface="Roboto Mono"/>
              <a:cs typeface="Roboto Mono"/>
              <a:sym typeface="Roboto Mono"/>
            </a:endParaRPr>
          </a:p>
        </p:txBody>
      </p:sp>
      <p:sp>
        <p:nvSpPr>
          <p:cNvPr id="162" name="Google Shape;162;p18"/>
          <p:cNvSpPr/>
          <p:nvPr/>
        </p:nvSpPr>
        <p:spPr>
          <a:xfrm>
            <a:off x="1778000" y="36830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18"/>
          <p:cNvSpPr txBox="1"/>
          <p:nvPr/>
        </p:nvSpPr>
        <p:spPr>
          <a:xfrm>
            <a:off x="1778000" y="3886200"/>
            <a:ext cx="6756300" cy="558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 sz="850">
                <a:solidFill>
                  <a:srgbClr val="949BA8"/>
                </a:solidFill>
                <a:latin typeface="Inter"/>
                <a:ea typeface="Inter"/>
                <a:cs typeface="Inter"/>
                <a:sym typeface="Inter"/>
              </a:rPr>
              <a:t>Accuracy on 300 answers from HaluEval — 150 records, each giving one faithful answer and one hallucinated, so a coin toss scores 50%.</a:t>
            </a:r>
            <a:endParaRPr sz="850">
              <a:solidFill>
                <a:srgbClr val="949BA8"/>
              </a:solidFill>
              <a:latin typeface="Inter"/>
              <a:ea typeface="Inter"/>
              <a:cs typeface="Inter"/>
              <a:sym typeface="Inter"/>
            </a:endParaRPr>
          </a:p>
        </p:txBody>
      </p:sp>
      <p:sp>
        <p:nvSpPr>
          <p:cNvPr id="164" name="Google Shape;164;p18"/>
          <p:cNvSpPr txBox="1"/>
          <p:nvPr/>
        </p:nvSpPr>
        <p:spPr>
          <a:xfrm>
            <a:off x="1778000" y="1511300"/>
            <a:ext cx="6756300" cy="17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FCFAE"/>
                </a:solidFill>
                <a:latin typeface="Roboto Mono"/>
                <a:ea typeface="Roboto Mono"/>
                <a:cs typeface="Roboto Mono"/>
                <a:sym typeface="Roboto Mono"/>
              </a:rPr>
              <a:t>ACCURACY ON 300 LABELLED ANSWERS</a:t>
            </a:r>
            <a:endParaRPr sz="800">
              <a:solidFill>
                <a:srgbClr val="5FCFAE"/>
              </a:solidFill>
              <a:latin typeface="Roboto Mono"/>
              <a:ea typeface="Roboto Mono"/>
              <a:cs typeface="Roboto Mono"/>
              <a:sym typeface="Roboto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232"/>
        </a:solidFill>
      </p:bgPr>
    </p:bg>
    <p:spTree>
      <p:nvGrpSpPr>
        <p:cNvPr id="168" name="Shape 168"/>
        <p:cNvGrpSpPr/>
        <p:nvPr/>
      </p:nvGrpSpPr>
      <p:grpSpPr>
        <a:xfrm>
          <a:off x="0" y="0"/>
          <a:ext cx="0" cy="0"/>
          <a:chOff x="0" y="0"/>
          <a:chExt cx="0" cy="0"/>
        </a:xfrm>
      </p:grpSpPr>
      <p:sp>
        <p:nvSpPr>
          <p:cNvPr id="169" name="Google Shape;169;p19"/>
          <p:cNvSpPr txBox="1"/>
          <p:nvPr/>
        </p:nvSpPr>
        <p:spPr>
          <a:xfrm>
            <a:off x="558800" y="533400"/>
            <a:ext cx="1066800" cy="5079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06</a:t>
            </a:r>
            <a:endParaRPr sz="800">
              <a:solidFill>
                <a:srgbClr val="949BA8"/>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CHALLENGES</a:t>
            </a:r>
            <a:endParaRPr sz="800">
              <a:solidFill>
                <a:srgbClr val="949BA8"/>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AND WHAT I DID</a:t>
            </a:r>
            <a:endParaRPr sz="800">
              <a:solidFill>
                <a:srgbClr val="949BA8"/>
              </a:solidFill>
              <a:latin typeface="Roboto Mono"/>
              <a:ea typeface="Roboto Mono"/>
              <a:cs typeface="Roboto Mono"/>
              <a:sym typeface="Roboto Mono"/>
            </a:endParaRPr>
          </a:p>
        </p:txBody>
      </p:sp>
      <p:sp>
        <p:nvSpPr>
          <p:cNvPr id="170" name="Google Shape;170;p19"/>
          <p:cNvSpPr/>
          <p:nvPr/>
        </p:nvSpPr>
        <p:spPr>
          <a:xfrm>
            <a:off x="558800" y="4572000"/>
            <a:ext cx="79248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19"/>
          <p:cNvSpPr txBox="1"/>
          <p:nvPr/>
        </p:nvSpPr>
        <p:spPr>
          <a:xfrm>
            <a:off x="558800" y="4673600"/>
            <a:ext cx="3810000" cy="17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750">
                <a:solidFill>
                  <a:srgbClr val="949BA8"/>
                </a:solidFill>
                <a:latin typeface="Roboto Mono"/>
                <a:ea typeface="Roboto Mono"/>
                <a:cs typeface="Roboto Mono"/>
                <a:sym typeface="Roboto Mono"/>
              </a:rPr>
              <a:t>AI OUTPUT AUDITOR</a:t>
            </a:r>
            <a:endParaRPr sz="750">
              <a:solidFill>
                <a:srgbClr val="949BA8"/>
              </a:solidFill>
              <a:latin typeface="Roboto Mono"/>
              <a:ea typeface="Roboto Mono"/>
              <a:cs typeface="Roboto Mono"/>
              <a:sym typeface="Roboto Mono"/>
            </a:endParaRPr>
          </a:p>
        </p:txBody>
      </p:sp>
      <p:sp>
        <p:nvSpPr>
          <p:cNvPr id="172" name="Google Shape;172;p19"/>
          <p:cNvSpPr txBox="1"/>
          <p:nvPr/>
        </p:nvSpPr>
        <p:spPr>
          <a:xfrm>
            <a:off x="4724400" y="4673600"/>
            <a:ext cx="3810000" cy="17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sz="750">
                <a:solidFill>
                  <a:srgbClr val="949BA8"/>
                </a:solidFill>
                <a:latin typeface="Roboto Mono"/>
                <a:ea typeface="Roboto Mono"/>
                <a:cs typeface="Roboto Mono"/>
                <a:sym typeface="Roboto Mono"/>
              </a:rPr>
              <a:t>EVGENIYA KOLESNIKOV</a:t>
            </a:r>
            <a:endParaRPr sz="750">
              <a:solidFill>
                <a:srgbClr val="949BA8"/>
              </a:solidFill>
              <a:latin typeface="Roboto Mono"/>
              <a:ea typeface="Roboto Mono"/>
              <a:cs typeface="Roboto Mono"/>
              <a:sym typeface="Roboto Mono"/>
            </a:endParaRPr>
          </a:p>
        </p:txBody>
      </p:sp>
      <p:sp>
        <p:nvSpPr>
          <p:cNvPr id="173" name="Google Shape;173;p19"/>
          <p:cNvSpPr txBox="1"/>
          <p:nvPr/>
        </p:nvSpPr>
        <p:spPr>
          <a:xfrm>
            <a:off x="1778000" y="508000"/>
            <a:ext cx="6756300" cy="787500"/>
          </a:xfrm>
          <a:prstGeom prst="rect">
            <a:avLst/>
          </a:prstGeom>
          <a:noFill/>
          <a:ln>
            <a:noFill/>
          </a:ln>
        </p:spPr>
        <p:txBody>
          <a:bodyPr anchorCtr="0" anchor="t" bIns="91425" lIns="91425" spcFirstLastPara="1" rIns="91425" wrap="square" tIns="91425">
            <a:noAutofit/>
          </a:bodyPr>
          <a:lstStyle/>
          <a:p>
            <a:pPr indent="0" lvl="0" marL="0" rtl="0" algn="l">
              <a:lnSpc>
                <a:spcPct val="92000"/>
              </a:lnSpc>
              <a:spcBef>
                <a:spcPts val="0"/>
              </a:spcBef>
              <a:spcAft>
                <a:spcPts val="0"/>
              </a:spcAft>
              <a:buNone/>
            </a:pPr>
            <a:r>
              <a:rPr b="1" lang="en" sz="2700">
                <a:solidFill>
                  <a:srgbClr val="E9E7E2"/>
                </a:solidFill>
                <a:latin typeface="Space Grotesk"/>
                <a:ea typeface="Space Grotesk"/>
                <a:cs typeface="Space Grotesk"/>
                <a:sym typeface="Space Grotesk"/>
              </a:rPr>
              <a:t>Measured, not assumed</a:t>
            </a:r>
            <a:endParaRPr b="1" sz="2700">
              <a:solidFill>
                <a:srgbClr val="E9E7E2"/>
              </a:solidFill>
              <a:latin typeface="Space Grotesk"/>
              <a:ea typeface="Space Grotesk"/>
              <a:cs typeface="Space Grotesk"/>
              <a:sym typeface="Space Grotesk"/>
            </a:endParaRPr>
          </a:p>
        </p:txBody>
      </p:sp>
      <p:sp>
        <p:nvSpPr>
          <p:cNvPr id="174" name="Google Shape;174;p19"/>
          <p:cNvSpPr/>
          <p:nvPr/>
        </p:nvSpPr>
        <p:spPr>
          <a:xfrm>
            <a:off x="1778000" y="13970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19"/>
          <p:cNvSpPr txBox="1"/>
          <p:nvPr/>
        </p:nvSpPr>
        <p:spPr>
          <a:xfrm>
            <a:off x="1778000" y="1778000"/>
            <a:ext cx="13209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THRESHOLDS</a:t>
            </a:r>
            <a:endParaRPr sz="800">
              <a:solidFill>
                <a:srgbClr val="5FCFAE"/>
              </a:solidFill>
              <a:latin typeface="Roboto Mono"/>
              <a:ea typeface="Roboto Mono"/>
              <a:cs typeface="Roboto Mono"/>
              <a:sym typeface="Roboto Mono"/>
            </a:endParaRPr>
          </a:p>
        </p:txBody>
      </p:sp>
      <p:sp>
        <p:nvSpPr>
          <p:cNvPr id="176" name="Google Shape;176;p19"/>
          <p:cNvSpPr txBox="1"/>
          <p:nvPr/>
        </p:nvSpPr>
        <p:spPr>
          <a:xfrm>
            <a:off x="3251200" y="1739900"/>
            <a:ext cx="52833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050">
                <a:solidFill>
                  <a:srgbClr val="E9E7E2"/>
                </a:solidFill>
                <a:latin typeface="Inter"/>
                <a:ea typeface="Inter"/>
                <a:cs typeface="Inter"/>
                <a:sym typeface="Inter"/>
              </a:rPr>
              <a:t>Two methods need a threshold. Tuned on a separate set of cases the reported numbers never touched.</a:t>
            </a:r>
            <a:endParaRPr sz="1050">
              <a:solidFill>
                <a:srgbClr val="E9E7E2"/>
              </a:solidFill>
              <a:latin typeface="Inter"/>
              <a:ea typeface="Inter"/>
              <a:cs typeface="Inter"/>
              <a:sym typeface="Inter"/>
            </a:endParaRPr>
          </a:p>
        </p:txBody>
      </p:sp>
      <p:sp>
        <p:nvSpPr>
          <p:cNvPr id="177" name="Google Shape;177;p19"/>
          <p:cNvSpPr/>
          <p:nvPr/>
        </p:nvSpPr>
        <p:spPr>
          <a:xfrm>
            <a:off x="1778000" y="22606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19"/>
          <p:cNvSpPr txBox="1"/>
          <p:nvPr/>
        </p:nvSpPr>
        <p:spPr>
          <a:xfrm>
            <a:off x="1778000" y="2438400"/>
            <a:ext cx="13209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THE LIMIT</a:t>
            </a:r>
            <a:endParaRPr sz="800">
              <a:solidFill>
                <a:srgbClr val="5FCFAE"/>
              </a:solidFill>
              <a:latin typeface="Roboto Mono"/>
              <a:ea typeface="Roboto Mono"/>
              <a:cs typeface="Roboto Mono"/>
              <a:sym typeface="Roboto Mono"/>
            </a:endParaRPr>
          </a:p>
        </p:txBody>
      </p:sp>
      <p:sp>
        <p:nvSpPr>
          <p:cNvPr id="179" name="Google Shape;179;p19"/>
          <p:cNvSpPr txBox="1"/>
          <p:nvPr/>
        </p:nvSpPr>
        <p:spPr>
          <a:xfrm>
            <a:off x="3251200" y="2400300"/>
            <a:ext cx="5283300" cy="558900"/>
          </a:xfrm>
          <a:prstGeom prst="rect">
            <a:avLst/>
          </a:prstGeom>
          <a:noFill/>
          <a:ln>
            <a:noFill/>
          </a:ln>
        </p:spPr>
        <p:txBody>
          <a:bodyPr anchorCtr="0" anchor="t" bIns="91425" lIns="91425" spcFirstLastPara="1" rIns="91425" wrap="square" tIns="91425">
            <a:noAutofit/>
          </a:bodyPr>
          <a:lstStyle/>
          <a:p>
            <a:pPr indent="0" lvl="0" marL="0" rtl="0" algn="l">
              <a:lnSpc>
                <a:spcPct val="108000"/>
              </a:lnSpc>
              <a:spcBef>
                <a:spcPts val="0"/>
              </a:spcBef>
              <a:spcAft>
                <a:spcPts val="0"/>
              </a:spcAft>
              <a:buNone/>
            </a:pPr>
            <a:r>
              <a:rPr lang="en" sz="1050">
                <a:solidFill>
                  <a:srgbClr val="E9E7E2"/>
                </a:solidFill>
                <a:latin typeface="Inter"/>
                <a:ea typeface="Inter"/>
                <a:cs typeface="Inter"/>
                <a:sym typeface="Inter"/>
              </a:rPr>
              <a:t>Not the API quota — memory: 6 GB at 25,000 characters, on a server with 16 shared.</a:t>
            </a:r>
            <a:endParaRPr sz="1050">
              <a:solidFill>
                <a:srgbClr val="E9E7E2"/>
              </a:solidFill>
              <a:latin typeface="Inter"/>
              <a:ea typeface="Inter"/>
              <a:cs typeface="Inter"/>
              <a:sym typeface="Inter"/>
            </a:endParaRPr>
          </a:p>
        </p:txBody>
      </p:sp>
      <p:sp>
        <p:nvSpPr>
          <p:cNvPr id="180" name="Google Shape;180;p19"/>
          <p:cNvSpPr/>
          <p:nvPr/>
        </p:nvSpPr>
        <p:spPr>
          <a:xfrm>
            <a:off x="1778000" y="29210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19"/>
          <p:cNvSpPr txBox="1"/>
          <p:nvPr/>
        </p:nvSpPr>
        <p:spPr>
          <a:xfrm>
            <a:off x="1778000" y="3098800"/>
            <a:ext cx="13209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THE COST</a:t>
            </a:r>
            <a:endParaRPr sz="800">
              <a:solidFill>
                <a:srgbClr val="5FCFAE"/>
              </a:solidFill>
              <a:latin typeface="Roboto Mono"/>
              <a:ea typeface="Roboto Mono"/>
              <a:cs typeface="Roboto Mono"/>
              <a:sym typeface="Roboto Mono"/>
            </a:endParaRPr>
          </a:p>
        </p:txBody>
      </p:sp>
      <p:sp>
        <p:nvSpPr>
          <p:cNvPr id="182" name="Google Shape;182;p19"/>
          <p:cNvSpPr txBox="1"/>
          <p:nvPr/>
        </p:nvSpPr>
        <p:spPr>
          <a:xfrm>
            <a:off x="3251200" y="3060700"/>
            <a:ext cx="5283300" cy="558900"/>
          </a:xfrm>
          <a:prstGeom prst="rect">
            <a:avLst/>
          </a:prstGeom>
          <a:noFill/>
          <a:ln>
            <a:noFill/>
          </a:ln>
        </p:spPr>
        <p:txBody>
          <a:bodyPr anchorCtr="0" anchor="t" bIns="91425" lIns="91425" spcFirstLastPara="1" rIns="91425" wrap="square" tIns="91425">
            <a:noAutofit/>
          </a:bodyPr>
          <a:lstStyle/>
          <a:p>
            <a:pPr indent="0" lvl="0" marL="0" rtl="0" algn="l">
              <a:lnSpc>
                <a:spcPct val="108000"/>
              </a:lnSpc>
              <a:spcBef>
                <a:spcPts val="0"/>
              </a:spcBef>
              <a:spcAft>
                <a:spcPts val="0"/>
              </a:spcAft>
              <a:buNone/>
            </a:pPr>
            <a:r>
              <a:rPr lang="en" sz="1050">
                <a:solidFill>
                  <a:srgbClr val="E9E7E2"/>
                </a:solidFill>
                <a:latin typeface="Inter"/>
                <a:ea typeface="Inter"/>
                <a:cs typeface="Inter"/>
                <a:sym typeface="Inter"/>
              </a:rPr>
              <a:t>More than half of what a judge call costs is reasoning the user never sees.</a:t>
            </a:r>
            <a:endParaRPr sz="1050">
              <a:solidFill>
                <a:srgbClr val="E9E7E2"/>
              </a:solidFill>
              <a:latin typeface="Inter"/>
              <a:ea typeface="Inter"/>
              <a:cs typeface="Inter"/>
              <a:sym typeface="Inter"/>
            </a:endParaRPr>
          </a:p>
        </p:txBody>
      </p:sp>
      <p:sp>
        <p:nvSpPr>
          <p:cNvPr id="183" name="Google Shape;183;p19"/>
          <p:cNvSpPr/>
          <p:nvPr/>
        </p:nvSpPr>
        <p:spPr>
          <a:xfrm>
            <a:off x="1778000" y="35814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 name="Google Shape;184;p19"/>
          <p:cNvSpPr txBox="1"/>
          <p:nvPr/>
        </p:nvSpPr>
        <p:spPr>
          <a:xfrm>
            <a:off x="1778000" y="3810000"/>
            <a:ext cx="6756300" cy="584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 sz="1050">
                <a:solidFill>
                  <a:srgbClr val="949BA8"/>
                </a:solidFill>
                <a:latin typeface="Inter"/>
                <a:ea typeface="Inter"/>
                <a:cs typeface="Inter"/>
                <a:sym typeface="Inter"/>
              </a:rPr>
              <a:t>And the uncomfortable fact:</a:t>
            </a:r>
            <a:r>
              <a:rPr lang="en" sz="1050">
                <a:solidFill>
                  <a:srgbClr val="949BA8"/>
                </a:solidFill>
                <a:latin typeface="Inter"/>
                <a:ea typeface="Inter"/>
                <a:cs typeface="Inter"/>
                <a:sym typeface="Inter"/>
              </a:rPr>
              <a:t> a checker that is right 82% of the time creates a new risk. </a:t>
            </a:r>
            <a:r>
              <a:rPr lang="en" sz="1050">
                <a:solidFill>
                  <a:srgbClr val="949BA8"/>
                </a:solidFill>
                <a:latin typeface="Inter"/>
                <a:ea typeface="Inter"/>
                <a:cs typeface="Inter"/>
                <a:sym typeface="Inter"/>
              </a:rPr>
              <a:t>When it says it found nothing, you stop worrying — and one time in five it is wrong.</a:t>
            </a:r>
            <a:r>
              <a:rPr lang="en" sz="1050">
                <a:solidFill>
                  <a:srgbClr val="949BA8"/>
                </a:solidFill>
                <a:latin typeface="Inter"/>
                <a:ea typeface="Inter"/>
                <a:cs typeface="Inter"/>
                <a:sym typeface="Inter"/>
              </a:rPr>
              <a:t> The screen says so on every verdict.</a:t>
            </a:r>
            <a:endParaRPr sz="1050">
              <a:solidFill>
                <a:srgbClr val="949BA8"/>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232"/>
        </a:solidFill>
      </p:bgPr>
    </p:bg>
    <p:spTree>
      <p:nvGrpSpPr>
        <p:cNvPr id="188" name="Shape 188"/>
        <p:cNvGrpSpPr/>
        <p:nvPr/>
      </p:nvGrpSpPr>
      <p:grpSpPr>
        <a:xfrm>
          <a:off x="0" y="0"/>
          <a:ext cx="0" cy="0"/>
          <a:chOff x="0" y="0"/>
          <a:chExt cx="0" cy="0"/>
        </a:xfrm>
      </p:grpSpPr>
      <p:sp>
        <p:nvSpPr>
          <p:cNvPr id="189" name="Google Shape;189;p20"/>
          <p:cNvSpPr txBox="1"/>
          <p:nvPr/>
        </p:nvSpPr>
        <p:spPr>
          <a:xfrm>
            <a:off x="558800" y="685800"/>
            <a:ext cx="1066800" cy="5079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07</a:t>
            </a:r>
            <a:endParaRPr sz="800">
              <a:solidFill>
                <a:srgbClr val="949BA8"/>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FUTURE STEPS</a:t>
            </a:r>
            <a:endParaRPr sz="800">
              <a:solidFill>
                <a:srgbClr val="949BA8"/>
              </a:solidFill>
              <a:latin typeface="Roboto Mono"/>
              <a:ea typeface="Roboto Mono"/>
              <a:cs typeface="Roboto Mono"/>
              <a:sym typeface="Roboto Mono"/>
            </a:endParaRPr>
          </a:p>
        </p:txBody>
      </p:sp>
      <p:sp>
        <p:nvSpPr>
          <p:cNvPr id="190" name="Google Shape;190;p20"/>
          <p:cNvSpPr/>
          <p:nvPr/>
        </p:nvSpPr>
        <p:spPr>
          <a:xfrm>
            <a:off x="558800" y="4572000"/>
            <a:ext cx="79248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0"/>
          <p:cNvSpPr txBox="1"/>
          <p:nvPr/>
        </p:nvSpPr>
        <p:spPr>
          <a:xfrm>
            <a:off x="558800" y="4673600"/>
            <a:ext cx="3810000" cy="17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750">
                <a:solidFill>
                  <a:srgbClr val="949BA8"/>
                </a:solidFill>
                <a:latin typeface="Roboto Mono"/>
                <a:ea typeface="Roboto Mono"/>
                <a:cs typeface="Roboto Mono"/>
                <a:sym typeface="Roboto Mono"/>
              </a:rPr>
              <a:t>AI OUTPUT AUDITOR</a:t>
            </a:r>
            <a:endParaRPr sz="750">
              <a:solidFill>
                <a:srgbClr val="949BA8"/>
              </a:solidFill>
              <a:latin typeface="Roboto Mono"/>
              <a:ea typeface="Roboto Mono"/>
              <a:cs typeface="Roboto Mono"/>
              <a:sym typeface="Roboto Mono"/>
            </a:endParaRPr>
          </a:p>
        </p:txBody>
      </p:sp>
      <p:sp>
        <p:nvSpPr>
          <p:cNvPr id="192" name="Google Shape;192;p20"/>
          <p:cNvSpPr txBox="1"/>
          <p:nvPr/>
        </p:nvSpPr>
        <p:spPr>
          <a:xfrm>
            <a:off x="4724400" y="4673600"/>
            <a:ext cx="3810000" cy="17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sz="750">
                <a:solidFill>
                  <a:srgbClr val="949BA8"/>
                </a:solidFill>
                <a:latin typeface="Roboto Mono"/>
                <a:ea typeface="Roboto Mono"/>
                <a:cs typeface="Roboto Mono"/>
                <a:sym typeface="Roboto Mono"/>
              </a:rPr>
              <a:t>EVGENIYA KOLESNIKOV</a:t>
            </a:r>
            <a:endParaRPr sz="750">
              <a:solidFill>
                <a:srgbClr val="949BA8"/>
              </a:solidFill>
              <a:latin typeface="Roboto Mono"/>
              <a:ea typeface="Roboto Mono"/>
              <a:cs typeface="Roboto Mono"/>
              <a:sym typeface="Roboto Mono"/>
            </a:endParaRPr>
          </a:p>
        </p:txBody>
      </p:sp>
      <p:sp>
        <p:nvSpPr>
          <p:cNvPr id="193" name="Google Shape;193;p20"/>
          <p:cNvSpPr txBox="1"/>
          <p:nvPr/>
        </p:nvSpPr>
        <p:spPr>
          <a:xfrm>
            <a:off x="1778000" y="508000"/>
            <a:ext cx="6756300" cy="762000"/>
          </a:xfrm>
          <a:prstGeom prst="rect">
            <a:avLst/>
          </a:prstGeom>
          <a:noFill/>
          <a:ln>
            <a:noFill/>
          </a:ln>
        </p:spPr>
        <p:txBody>
          <a:bodyPr anchorCtr="0" anchor="t" bIns="91425" lIns="91425" spcFirstLastPara="1" rIns="91425" wrap="square" tIns="91425">
            <a:noAutofit/>
          </a:bodyPr>
          <a:lstStyle/>
          <a:p>
            <a:pPr indent="0" lvl="0" marL="0" rtl="0" algn="l">
              <a:lnSpc>
                <a:spcPct val="92000"/>
              </a:lnSpc>
              <a:spcBef>
                <a:spcPts val="0"/>
              </a:spcBef>
              <a:spcAft>
                <a:spcPts val="0"/>
              </a:spcAft>
              <a:buNone/>
            </a:pPr>
            <a:r>
              <a:rPr b="1" lang="en" sz="2700">
                <a:solidFill>
                  <a:srgbClr val="E9E7E2"/>
                </a:solidFill>
                <a:latin typeface="Space Grotesk"/>
                <a:ea typeface="Space Grotesk"/>
                <a:cs typeface="Space Grotesk"/>
                <a:sym typeface="Space Grotesk"/>
              </a:rPr>
              <a:t>From a detector to a decision</a:t>
            </a:r>
            <a:endParaRPr b="1" sz="2700">
              <a:solidFill>
                <a:srgbClr val="E9E7E2"/>
              </a:solidFill>
              <a:latin typeface="Space Grotesk"/>
              <a:ea typeface="Space Grotesk"/>
              <a:cs typeface="Space Grotesk"/>
              <a:sym typeface="Space Grotesk"/>
            </a:endParaRPr>
          </a:p>
        </p:txBody>
      </p:sp>
      <p:sp>
        <p:nvSpPr>
          <p:cNvPr id="194" name="Google Shape;194;p20"/>
          <p:cNvSpPr/>
          <p:nvPr/>
        </p:nvSpPr>
        <p:spPr>
          <a:xfrm>
            <a:off x="1778000" y="13208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20"/>
          <p:cNvSpPr txBox="1"/>
          <p:nvPr/>
        </p:nvSpPr>
        <p:spPr>
          <a:xfrm>
            <a:off x="1778000" y="1473200"/>
            <a:ext cx="13971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COVERAGE</a:t>
            </a:r>
            <a:endParaRPr sz="800">
              <a:solidFill>
                <a:srgbClr val="5FCFAE"/>
              </a:solidFill>
              <a:latin typeface="Roboto Mono"/>
              <a:ea typeface="Roboto Mono"/>
              <a:cs typeface="Roboto Mono"/>
              <a:sym typeface="Roboto Mono"/>
            </a:endParaRPr>
          </a:p>
        </p:txBody>
      </p:sp>
      <p:sp>
        <p:nvSpPr>
          <p:cNvPr id="196" name="Google Shape;196;p20"/>
          <p:cNvSpPr txBox="1"/>
          <p:nvPr/>
        </p:nvSpPr>
        <p:spPr>
          <a:xfrm>
            <a:off x="3251200" y="1447800"/>
            <a:ext cx="5283300" cy="381000"/>
          </a:xfrm>
          <a:prstGeom prst="rect">
            <a:avLst/>
          </a:prstGeom>
          <a:noFill/>
          <a:ln>
            <a:noFill/>
          </a:ln>
        </p:spPr>
        <p:txBody>
          <a:bodyPr anchorCtr="0" anchor="t" bIns="91425" lIns="91425" spcFirstLastPara="1" rIns="91425" wrap="square" tIns="91425">
            <a:noAutofit/>
          </a:bodyPr>
          <a:lstStyle/>
          <a:p>
            <a:pPr indent="0" lvl="0" marL="0" rtl="0" algn="l">
              <a:lnSpc>
                <a:spcPct val="106000"/>
              </a:lnSpc>
              <a:spcBef>
                <a:spcPts val="0"/>
              </a:spcBef>
              <a:spcAft>
                <a:spcPts val="0"/>
              </a:spcAft>
              <a:buNone/>
            </a:pPr>
            <a:r>
              <a:rPr lang="en" sz="950">
                <a:solidFill>
                  <a:srgbClr val="E9E7E2"/>
                </a:solidFill>
                <a:latin typeface="Inter"/>
                <a:ea typeface="Inter"/>
                <a:cs typeface="Inter"/>
                <a:sym typeface="Inter"/>
              </a:rPr>
              <a:t>Checking an answer with no document behind it. That needs web search, and then absence stops being evidence.</a:t>
            </a:r>
            <a:endParaRPr sz="950">
              <a:solidFill>
                <a:srgbClr val="E9E7E2"/>
              </a:solidFill>
              <a:latin typeface="Inter"/>
              <a:ea typeface="Inter"/>
              <a:cs typeface="Inter"/>
              <a:sym typeface="Inter"/>
            </a:endParaRPr>
          </a:p>
        </p:txBody>
      </p:sp>
      <p:sp>
        <p:nvSpPr>
          <p:cNvPr id="197" name="Google Shape;197;p20"/>
          <p:cNvSpPr/>
          <p:nvPr/>
        </p:nvSpPr>
        <p:spPr>
          <a:xfrm>
            <a:off x="1778000" y="18796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0"/>
          <p:cNvSpPr txBox="1"/>
          <p:nvPr/>
        </p:nvSpPr>
        <p:spPr>
          <a:xfrm>
            <a:off x="1778000" y="2006600"/>
            <a:ext cx="13971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SCALE</a:t>
            </a:r>
            <a:endParaRPr sz="800">
              <a:solidFill>
                <a:srgbClr val="5FCFAE"/>
              </a:solidFill>
              <a:latin typeface="Roboto Mono"/>
              <a:ea typeface="Roboto Mono"/>
              <a:cs typeface="Roboto Mono"/>
              <a:sym typeface="Roboto Mono"/>
            </a:endParaRPr>
          </a:p>
        </p:txBody>
      </p:sp>
      <p:sp>
        <p:nvSpPr>
          <p:cNvPr id="199" name="Google Shape;199;p20"/>
          <p:cNvSpPr txBox="1"/>
          <p:nvPr/>
        </p:nvSpPr>
        <p:spPr>
          <a:xfrm>
            <a:off x="3251200" y="1981200"/>
            <a:ext cx="5283300" cy="381000"/>
          </a:xfrm>
          <a:prstGeom prst="rect">
            <a:avLst/>
          </a:prstGeom>
          <a:noFill/>
          <a:ln>
            <a:noFill/>
          </a:ln>
        </p:spPr>
        <p:txBody>
          <a:bodyPr anchorCtr="0" anchor="t" bIns="91425" lIns="91425" spcFirstLastPara="1" rIns="91425" wrap="square" tIns="91425">
            <a:noAutofit/>
          </a:bodyPr>
          <a:lstStyle/>
          <a:p>
            <a:pPr indent="0" lvl="0" marL="0" rtl="0" algn="l">
              <a:lnSpc>
                <a:spcPct val="106000"/>
              </a:lnSpc>
              <a:spcBef>
                <a:spcPts val="0"/>
              </a:spcBef>
              <a:spcAft>
                <a:spcPts val="0"/>
              </a:spcAft>
              <a:buNone/>
            </a:pPr>
            <a:r>
              <a:rPr lang="en" sz="950">
                <a:solidFill>
                  <a:srgbClr val="E9E7E2"/>
                </a:solidFill>
                <a:latin typeface="Inter"/>
                <a:ea typeface="Inter"/>
                <a:cs typeface="Inter"/>
                <a:sym typeface="Inter"/>
              </a:rPr>
              <a:t>Past 10,000 characters the tool would split the document itself and send the judge only the relevant parts.</a:t>
            </a:r>
            <a:endParaRPr sz="950">
              <a:solidFill>
                <a:srgbClr val="E9E7E2"/>
              </a:solidFill>
              <a:latin typeface="Inter"/>
              <a:ea typeface="Inter"/>
              <a:cs typeface="Inter"/>
              <a:sym typeface="Inter"/>
            </a:endParaRPr>
          </a:p>
        </p:txBody>
      </p:sp>
      <p:sp>
        <p:nvSpPr>
          <p:cNvPr id="200" name="Google Shape;200;p20"/>
          <p:cNvSpPr/>
          <p:nvPr/>
        </p:nvSpPr>
        <p:spPr>
          <a:xfrm>
            <a:off x="1778000" y="24130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20"/>
          <p:cNvSpPr txBox="1"/>
          <p:nvPr/>
        </p:nvSpPr>
        <p:spPr>
          <a:xfrm>
            <a:off x="1778000" y="2540000"/>
            <a:ext cx="13971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ADOPTION</a:t>
            </a:r>
            <a:endParaRPr sz="800">
              <a:solidFill>
                <a:srgbClr val="5FCFAE"/>
              </a:solidFill>
              <a:latin typeface="Roboto Mono"/>
              <a:ea typeface="Roboto Mono"/>
              <a:cs typeface="Roboto Mono"/>
              <a:sym typeface="Roboto Mono"/>
            </a:endParaRPr>
          </a:p>
        </p:txBody>
      </p:sp>
      <p:sp>
        <p:nvSpPr>
          <p:cNvPr id="202" name="Google Shape;202;p20"/>
          <p:cNvSpPr txBox="1"/>
          <p:nvPr/>
        </p:nvSpPr>
        <p:spPr>
          <a:xfrm>
            <a:off x="3251200" y="2514600"/>
            <a:ext cx="5283300" cy="381000"/>
          </a:xfrm>
          <a:prstGeom prst="rect">
            <a:avLst/>
          </a:prstGeom>
          <a:noFill/>
          <a:ln>
            <a:noFill/>
          </a:ln>
        </p:spPr>
        <p:txBody>
          <a:bodyPr anchorCtr="0" anchor="t" bIns="91425" lIns="91425" spcFirstLastPara="1" rIns="91425" wrap="square" tIns="91425">
            <a:noAutofit/>
          </a:bodyPr>
          <a:lstStyle/>
          <a:p>
            <a:pPr indent="0" lvl="0" marL="0" rtl="0" algn="l">
              <a:lnSpc>
                <a:spcPct val="106000"/>
              </a:lnSpc>
              <a:spcBef>
                <a:spcPts val="0"/>
              </a:spcBef>
              <a:spcAft>
                <a:spcPts val="0"/>
              </a:spcAft>
              <a:buNone/>
            </a:pPr>
            <a:r>
              <a:rPr lang="en" sz="950">
                <a:solidFill>
                  <a:srgbClr val="E9E7E2"/>
                </a:solidFill>
                <a:latin typeface="Inter"/>
                <a:ea typeface="Inter"/>
                <a:cs typeface="Inter"/>
                <a:sym typeface="Inter"/>
              </a:rPr>
              <a:t>A link it fetches, a file it opens, or an add-on that reads both texts out of any AI chat.</a:t>
            </a:r>
            <a:endParaRPr sz="950">
              <a:solidFill>
                <a:srgbClr val="E9E7E2"/>
              </a:solidFill>
              <a:latin typeface="Inter"/>
              <a:ea typeface="Inter"/>
              <a:cs typeface="Inter"/>
              <a:sym typeface="Inter"/>
            </a:endParaRPr>
          </a:p>
        </p:txBody>
      </p:sp>
      <p:sp>
        <p:nvSpPr>
          <p:cNvPr id="203" name="Google Shape;203;p20"/>
          <p:cNvSpPr/>
          <p:nvPr/>
        </p:nvSpPr>
        <p:spPr>
          <a:xfrm>
            <a:off x="1778000" y="29464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20"/>
          <p:cNvSpPr txBox="1"/>
          <p:nvPr/>
        </p:nvSpPr>
        <p:spPr>
          <a:xfrm>
            <a:off x="1778000" y="3073400"/>
            <a:ext cx="13971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PRECISION</a:t>
            </a:r>
            <a:endParaRPr sz="800">
              <a:solidFill>
                <a:srgbClr val="5FCFAE"/>
              </a:solidFill>
              <a:latin typeface="Roboto Mono"/>
              <a:ea typeface="Roboto Mono"/>
              <a:cs typeface="Roboto Mono"/>
              <a:sym typeface="Roboto Mono"/>
            </a:endParaRPr>
          </a:p>
        </p:txBody>
      </p:sp>
      <p:sp>
        <p:nvSpPr>
          <p:cNvPr id="205" name="Google Shape;205;p20"/>
          <p:cNvSpPr txBox="1"/>
          <p:nvPr/>
        </p:nvSpPr>
        <p:spPr>
          <a:xfrm>
            <a:off x="3251200" y="3048000"/>
            <a:ext cx="5283300" cy="381000"/>
          </a:xfrm>
          <a:prstGeom prst="rect">
            <a:avLst/>
          </a:prstGeom>
          <a:noFill/>
          <a:ln>
            <a:noFill/>
          </a:ln>
        </p:spPr>
        <p:txBody>
          <a:bodyPr anchorCtr="0" anchor="t" bIns="91425" lIns="91425" spcFirstLastPara="1" rIns="91425" wrap="square" tIns="91425">
            <a:noAutofit/>
          </a:bodyPr>
          <a:lstStyle/>
          <a:p>
            <a:pPr indent="0" lvl="0" marL="0" rtl="0" algn="l">
              <a:lnSpc>
                <a:spcPct val="106000"/>
              </a:lnSpc>
              <a:spcBef>
                <a:spcPts val="0"/>
              </a:spcBef>
              <a:spcAft>
                <a:spcPts val="0"/>
              </a:spcAft>
              <a:buNone/>
            </a:pPr>
            <a:r>
              <a:rPr lang="en" sz="950">
                <a:solidFill>
                  <a:srgbClr val="E9E7E2"/>
                </a:solidFill>
                <a:latin typeface="Inter"/>
                <a:ea typeface="Inter"/>
                <a:cs typeface="Inter"/>
                <a:sym typeface="Inter"/>
              </a:rPr>
              <a:t>Today the judge describes what it doubts; asking it to quote would mark the exact words.</a:t>
            </a:r>
            <a:endParaRPr sz="950">
              <a:solidFill>
                <a:srgbClr val="E9E7E2"/>
              </a:solidFill>
              <a:latin typeface="Inter"/>
              <a:ea typeface="Inter"/>
              <a:cs typeface="Inter"/>
              <a:sym typeface="Inter"/>
            </a:endParaRPr>
          </a:p>
        </p:txBody>
      </p:sp>
      <p:sp>
        <p:nvSpPr>
          <p:cNvPr id="206" name="Google Shape;206;p20"/>
          <p:cNvSpPr/>
          <p:nvPr/>
        </p:nvSpPr>
        <p:spPr>
          <a:xfrm>
            <a:off x="1778000" y="34798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20"/>
          <p:cNvSpPr txBox="1"/>
          <p:nvPr/>
        </p:nvSpPr>
        <p:spPr>
          <a:xfrm>
            <a:off x="1778000" y="3606800"/>
            <a:ext cx="13971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HONESTY</a:t>
            </a:r>
            <a:endParaRPr sz="800">
              <a:solidFill>
                <a:srgbClr val="5FCFAE"/>
              </a:solidFill>
              <a:latin typeface="Roboto Mono"/>
              <a:ea typeface="Roboto Mono"/>
              <a:cs typeface="Roboto Mono"/>
              <a:sym typeface="Roboto Mono"/>
            </a:endParaRPr>
          </a:p>
        </p:txBody>
      </p:sp>
      <p:sp>
        <p:nvSpPr>
          <p:cNvPr id="208" name="Google Shape;208;p20"/>
          <p:cNvSpPr txBox="1"/>
          <p:nvPr/>
        </p:nvSpPr>
        <p:spPr>
          <a:xfrm>
            <a:off x="3251200" y="3581400"/>
            <a:ext cx="5283300" cy="381000"/>
          </a:xfrm>
          <a:prstGeom prst="rect">
            <a:avLst/>
          </a:prstGeom>
          <a:noFill/>
          <a:ln>
            <a:noFill/>
          </a:ln>
        </p:spPr>
        <p:txBody>
          <a:bodyPr anchorCtr="0" anchor="t" bIns="91425" lIns="91425" spcFirstLastPara="1" rIns="91425" wrap="square" tIns="91425">
            <a:noAutofit/>
          </a:bodyPr>
          <a:lstStyle/>
          <a:p>
            <a:pPr indent="0" lvl="0" marL="0" rtl="0" algn="l">
              <a:lnSpc>
                <a:spcPct val="106000"/>
              </a:lnSpc>
              <a:spcBef>
                <a:spcPts val="0"/>
              </a:spcBef>
              <a:spcAft>
                <a:spcPts val="0"/>
              </a:spcAft>
              <a:buNone/>
            </a:pPr>
            <a:r>
              <a:rPr lang="en" sz="950">
                <a:solidFill>
                  <a:srgbClr val="E9E7E2"/>
                </a:solidFill>
                <a:latin typeface="Inter"/>
                <a:ea typeface="Inter"/>
                <a:cs typeface="Inter"/>
                <a:sym typeface="Inter"/>
              </a:rPr>
              <a:t>Separating “the article does not say this, though it is true” from passing the same claim off as the article’s.</a:t>
            </a:r>
            <a:endParaRPr sz="950">
              <a:solidFill>
                <a:srgbClr val="E9E7E2"/>
              </a:solidFill>
              <a:latin typeface="Inter"/>
              <a:ea typeface="Inter"/>
              <a:cs typeface="Inter"/>
              <a:sym typeface="Inter"/>
            </a:endParaRPr>
          </a:p>
        </p:txBody>
      </p:sp>
      <p:sp>
        <p:nvSpPr>
          <p:cNvPr id="209" name="Google Shape;209;p20"/>
          <p:cNvSpPr/>
          <p:nvPr/>
        </p:nvSpPr>
        <p:spPr>
          <a:xfrm>
            <a:off x="1778000" y="40132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0"/>
          <p:cNvSpPr txBox="1"/>
          <p:nvPr/>
        </p:nvSpPr>
        <p:spPr>
          <a:xfrm>
            <a:off x="1778000" y="4140200"/>
            <a:ext cx="13971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COST</a:t>
            </a:r>
            <a:endParaRPr sz="800">
              <a:solidFill>
                <a:srgbClr val="5FCFAE"/>
              </a:solidFill>
              <a:latin typeface="Roboto Mono"/>
              <a:ea typeface="Roboto Mono"/>
              <a:cs typeface="Roboto Mono"/>
              <a:sym typeface="Roboto Mono"/>
            </a:endParaRPr>
          </a:p>
        </p:txBody>
      </p:sp>
      <p:sp>
        <p:nvSpPr>
          <p:cNvPr id="211" name="Google Shape;211;p20"/>
          <p:cNvSpPr txBox="1"/>
          <p:nvPr/>
        </p:nvSpPr>
        <p:spPr>
          <a:xfrm>
            <a:off x="3251200" y="4114800"/>
            <a:ext cx="5283300" cy="381000"/>
          </a:xfrm>
          <a:prstGeom prst="rect">
            <a:avLst/>
          </a:prstGeom>
          <a:noFill/>
          <a:ln>
            <a:noFill/>
          </a:ln>
        </p:spPr>
        <p:txBody>
          <a:bodyPr anchorCtr="0" anchor="t" bIns="91425" lIns="91425" spcFirstLastPara="1" rIns="91425" wrap="square" tIns="91425">
            <a:noAutofit/>
          </a:bodyPr>
          <a:lstStyle/>
          <a:p>
            <a:pPr indent="0" lvl="0" marL="0" rtl="0" algn="l">
              <a:lnSpc>
                <a:spcPct val="108000"/>
              </a:lnSpc>
              <a:spcBef>
                <a:spcPts val="0"/>
              </a:spcBef>
              <a:spcAft>
                <a:spcPts val="0"/>
              </a:spcAft>
              <a:buNone/>
            </a:pPr>
            <a:r>
              <a:rPr lang="en" sz="950">
                <a:solidFill>
                  <a:srgbClr val="E9E7E2"/>
                </a:solidFill>
                <a:latin typeface="Inter"/>
                <a:ea typeface="Inter"/>
                <a:cs typeface="Inter"/>
                <a:sym typeface="Inter"/>
              </a:rPr>
              <a:t>Cheap method first, so most answers never reach the judge. Same accuracy, lower cost — measured, not yet built.</a:t>
            </a:r>
            <a:endParaRPr sz="950">
              <a:solidFill>
                <a:srgbClr val="E9E7E2"/>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232"/>
        </a:solidFill>
      </p:bgPr>
    </p:bg>
    <p:spTree>
      <p:nvGrpSpPr>
        <p:cNvPr id="215" name="Shape 215"/>
        <p:cNvGrpSpPr/>
        <p:nvPr/>
      </p:nvGrpSpPr>
      <p:grpSpPr>
        <a:xfrm>
          <a:off x="0" y="0"/>
          <a:ext cx="0" cy="0"/>
          <a:chOff x="0" y="0"/>
          <a:chExt cx="0" cy="0"/>
        </a:xfrm>
      </p:grpSpPr>
      <p:sp>
        <p:nvSpPr>
          <p:cNvPr id="216" name="Google Shape;216;p21"/>
          <p:cNvSpPr txBox="1"/>
          <p:nvPr/>
        </p:nvSpPr>
        <p:spPr>
          <a:xfrm>
            <a:off x="558800" y="685800"/>
            <a:ext cx="1066800" cy="5079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08</a:t>
            </a:r>
            <a:endParaRPr sz="800">
              <a:solidFill>
                <a:srgbClr val="949BA8"/>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SUMMARY</a:t>
            </a:r>
            <a:endParaRPr sz="800">
              <a:solidFill>
                <a:srgbClr val="949BA8"/>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 sz="800">
                <a:solidFill>
                  <a:srgbClr val="949BA8"/>
                </a:solidFill>
                <a:latin typeface="Roboto Mono"/>
                <a:ea typeface="Roboto Mono"/>
                <a:cs typeface="Roboto Mono"/>
                <a:sym typeface="Roboto Mono"/>
              </a:rPr>
              <a:t>CONCLUSIONS</a:t>
            </a:r>
            <a:endParaRPr sz="800">
              <a:solidFill>
                <a:srgbClr val="949BA8"/>
              </a:solidFill>
              <a:latin typeface="Roboto Mono"/>
              <a:ea typeface="Roboto Mono"/>
              <a:cs typeface="Roboto Mono"/>
              <a:sym typeface="Roboto Mono"/>
            </a:endParaRPr>
          </a:p>
        </p:txBody>
      </p:sp>
      <p:sp>
        <p:nvSpPr>
          <p:cNvPr id="217" name="Google Shape;217;p21"/>
          <p:cNvSpPr/>
          <p:nvPr/>
        </p:nvSpPr>
        <p:spPr>
          <a:xfrm>
            <a:off x="558800" y="4572000"/>
            <a:ext cx="79248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21"/>
          <p:cNvSpPr txBox="1"/>
          <p:nvPr/>
        </p:nvSpPr>
        <p:spPr>
          <a:xfrm>
            <a:off x="558800" y="4673600"/>
            <a:ext cx="3810000" cy="17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750">
                <a:solidFill>
                  <a:srgbClr val="949BA8"/>
                </a:solidFill>
                <a:latin typeface="Roboto Mono"/>
                <a:ea typeface="Roboto Mono"/>
                <a:cs typeface="Roboto Mono"/>
                <a:sym typeface="Roboto Mono"/>
              </a:rPr>
              <a:t>AI OUTPUT AUDITOR</a:t>
            </a:r>
            <a:endParaRPr sz="750">
              <a:solidFill>
                <a:srgbClr val="949BA8"/>
              </a:solidFill>
              <a:latin typeface="Roboto Mono"/>
              <a:ea typeface="Roboto Mono"/>
              <a:cs typeface="Roboto Mono"/>
              <a:sym typeface="Roboto Mono"/>
            </a:endParaRPr>
          </a:p>
        </p:txBody>
      </p:sp>
      <p:sp>
        <p:nvSpPr>
          <p:cNvPr id="219" name="Google Shape;219;p21"/>
          <p:cNvSpPr txBox="1"/>
          <p:nvPr/>
        </p:nvSpPr>
        <p:spPr>
          <a:xfrm>
            <a:off x="4724400" y="4673600"/>
            <a:ext cx="3810000" cy="17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sz="750">
                <a:solidFill>
                  <a:srgbClr val="949BA8"/>
                </a:solidFill>
                <a:latin typeface="Roboto Mono"/>
                <a:ea typeface="Roboto Mono"/>
                <a:cs typeface="Roboto Mono"/>
                <a:sym typeface="Roboto Mono"/>
              </a:rPr>
              <a:t>EVGENIYA KOLESNIKOV</a:t>
            </a:r>
            <a:endParaRPr sz="750">
              <a:solidFill>
                <a:srgbClr val="949BA8"/>
              </a:solidFill>
              <a:latin typeface="Roboto Mono"/>
              <a:ea typeface="Roboto Mono"/>
              <a:cs typeface="Roboto Mono"/>
              <a:sym typeface="Roboto Mono"/>
            </a:endParaRPr>
          </a:p>
        </p:txBody>
      </p:sp>
      <p:sp>
        <p:nvSpPr>
          <p:cNvPr id="220" name="Google Shape;220;p21"/>
          <p:cNvSpPr txBox="1"/>
          <p:nvPr/>
        </p:nvSpPr>
        <p:spPr>
          <a:xfrm>
            <a:off x="1778000" y="508000"/>
            <a:ext cx="6756300" cy="762000"/>
          </a:xfrm>
          <a:prstGeom prst="rect">
            <a:avLst/>
          </a:prstGeom>
          <a:noFill/>
          <a:ln>
            <a:noFill/>
          </a:ln>
        </p:spPr>
        <p:txBody>
          <a:bodyPr anchorCtr="0" anchor="t" bIns="91425" lIns="91425" spcFirstLastPara="1" rIns="91425" wrap="square" tIns="91425">
            <a:noAutofit/>
          </a:bodyPr>
          <a:lstStyle/>
          <a:p>
            <a:pPr indent="0" lvl="0" marL="0" rtl="0" algn="l">
              <a:lnSpc>
                <a:spcPct val="92000"/>
              </a:lnSpc>
              <a:spcBef>
                <a:spcPts val="0"/>
              </a:spcBef>
              <a:spcAft>
                <a:spcPts val="0"/>
              </a:spcAft>
              <a:buNone/>
            </a:pPr>
            <a:r>
              <a:rPr b="1" lang="en" sz="2700">
                <a:solidFill>
                  <a:srgbClr val="E9E7E2"/>
                </a:solidFill>
                <a:latin typeface="Space Grotesk"/>
                <a:ea typeface="Space Grotesk"/>
                <a:cs typeface="Space Grotesk"/>
                <a:sym typeface="Space Grotesk"/>
              </a:rPr>
              <a:t>Accuracy did not pick the method</a:t>
            </a:r>
            <a:endParaRPr b="1" sz="2700">
              <a:solidFill>
                <a:srgbClr val="E9E7E2"/>
              </a:solidFill>
              <a:latin typeface="Space Grotesk"/>
              <a:ea typeface="Space Grotesk"/>
              <a:cs typeface="Space Grotesk"/>
              <a:sym typeface="Space Grotesk"/>
            </a:endParaRPr>
          </a:p>
        </p:txBody>
      </p:sp>
      <p:sp>
        <p:nvSpPr>
          <p:cNvPr id="221" name="Google Shape;221;p21"/>
          <p:cNvSpPr/>
          <p:nvPr/>
        </p:nvSpPr>
        <p:spPr>
          <a:xfrm>
            <a:off x="1778000" y="13970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21"/>
          <p:cNvSpPr txBox="1"/>
          <p:nvPr/>
        </p:nvSpPr>
        <p:spPr>
          <a:xfrm>
            <a:off x="1778000" y="1549400"/>
            <a:ext cx="13971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AN EXPLANATION</a:t>
            </a:r>
            <a:endParaRPr sz="800">
              <a:solidFill>
                <a:srgbClr val="5FCFAE"/>
              </a:solidFill>
              <a:latin typeface="Roboto Mono"/>
              <a:ea typeface="Roboto Mono"/>
              <a:cs typeface="Roboto Mono"/>
              <a:sym typeface="Roboto Mono"/>
            </a:endParaRPr>
          </a:p>
        </p:txBody>
      </p:sp>
      <p:sp>
        <p:nvSpPr>
          <p:cNvPr id="223" name="Google Shape;223;p21"/>
          <p:cNvSpPr txBox="1"/>
          <p:nvPr/>
        </p:nvSpPr>
        <p:spPr>
          <a:xfrm>
            <a:off x="3251200" y="1524000"/>
            <a:ext cx="5283300" cy="431700"/>
          </a:xfrm>
          <a:prstGeom prst="rect">
            <a:avLst/>
          </a:prstGeom>
          <a:noFill/>
          <a:ln>
            <a:noFill/>
          </a:ln>
        </p:spPr>
        <p:txBody>
          <a:bodyPr anchorCtr="0" anchor="t" bIns="91425" lIns="91425" spcFirstLastPara="1" rIns="91425" wrap="square" tIns="91425">
            <a:noAutofit/>
          </a:bodyPr>
          <a:lstStyle/>
          <a:p>
            <a:pPr indent="0" lvl="0" marL="0" rtl="0" algn="l">
              <a:lnSpc>
                <a:spcPct val="108000"/>
              </a:lnSpc>
              <a:spcBef>
                <a:spcPts val="0"/>
              </a:spcBef>
              <a:spcAft>
                <a:spcPts val="0"/>
              </a:spcAft>
              <a:buNone/>
            </a:pPr>
            <a:r>
              <a:rPr lang="en" sz="950">
                <a:solidFill>
                  <a:srgbClr val="E9E7E2"/>
                </a:solidFill>
                <a:latin typeface="Inter"/>
                <a:ea typeface="Inter"/>
                <a:cs typeface="Inter"/>
                <a:sym typeface="Inter"/>
              </a:rPr>
              <a:t>AI judge (gpt-oss-120b). The only method that produces text — this is what ships.</a:t>
            </a:r>
            <a:endParaRPr sz="950">
              <a:solidFill>
                <a:srgbClr val="E9E7E2"/>
              </a:solidFill>
              <a:latin typeface="Inter"/>
              <a:ea typeface="Inter"/>
              <a:cs typeface="Inter"/>
              <a:sym typeface="Inter"/>
            </a:endParaRPr>
          </a:p>
        </p:txBody>
      </p:sp>
      <p:sp>
        <p:nvSpPr>
          <p:cNvPr id="224" name="Google Shape;224;p21"/>
          <p:cNvSpPr/>
          <p:nvPr/>
        </p:nvSpPr>
        <p:spPr>
          <a:xfrm>
            <a:off x="1778000" y="20066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21"/>
          <p:cNvSpPr txBox="1"/>
          <p:nvPr/>
        </p:nvSpPr>
        <p:spPr>
          <a:xfrm>
            <a:off x="1778000" y="2159000"/>
            <a:ext cx="13971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FREE AND OFFLINE</a:t>
            </a:r>
            <a:endParaRPr sz="800">
              <a:solidFill>
                <a:srgbClr val="5FCFAE"/>
              </a:solidFill>
              <a:latin typeface="Roboto Mono"/>
              <a:ea typeface="Roboto Mono"/>
              <a:cs typeface="Roboto Mono"/>
              <a:sym typeface="Roboto Mono"/>
            </a:endParaRPr>
          </a:p>
        </p:txBody>
      </p:sp>
      <p:sp>
        <p:nvSpPr>
          <p:cNvPr id="226" name="Google Shape;226;p21"/>
          <p:cNvSpPr txBox="1"/>
          <p:nvPr/>
        </p:nvSpPr>
        <p:spPr>
          <a:xfrm>
            <a:off x="3251200" y="2133600"/>
            <a:ext cx="5283300" cy="431700"/>
          </a:xfrm>
          <a:prstGeom prst="rect">
            <a:avLst/>
          </a:prstGeom>
          <a:noFill/>
          <a:ln>
            <a:noFill/>
          </a:ln>
        </p:spPr>
        <p:txBody>
          <a:bodyPr anchorCtr="0" anchor="t" bIns="91425" lIns="91425" spcFirstLastPara="1" rIns="91425" wrap="square" tIns="91425">
            <a:noAutofit/>
          </a:bodyPr>
          <a:lstStyle/>
          <a:p>
            <a:pPr indent="0" lvl="0" marL="0" rtl="0" algn="l">
              <a:lnSpc>
                <a:spcPct val="108000"/>
              </a:lnSpc>
              <a:spcBef>
                <a:spcPts val="0"/>
              </a:spcBef>
              <a:spcAft>
                <a:spcPts val="0"/>
              </a:spcAft>
              <a:buNone/>
            </a:pPr>
            <a:r>
              <a:rPr lang="en" sz="950">
                <a:solidFill>
                  <a:srgbClr val="E9E7E2"/>
                </a:solidFill>
                <a:latin typeface="Inter"/>
                <a:ea typeface="Inter"/>
                <a:cs typeface="Inter"/>
                <a:sym typeface="Inter"/>
              </a:rPr>
              <a:t>Entailment (HHEM-2.1-Open) alone. </a:t>
            </a:r>
            <a:r>
              <a:rPr lang="en" sz="950">
                <a:solidFill>
                  <a:srgbClr val="E9E7E2"/>
                </a:solidFill>
                <a:latin typeface="Inter"/>
                <a:ea typeface="Inter"/>
                <a:cs typeface="Inter"/>
                <a:sym typeface="Inter"/>
              </a:rPr>
              <a:t>Nothing goes to a third party — and half the errors pass.</a:t>
            </a:r>
            <a:endParaRPr sz="950">
              <a:solidFill>
                <a:srgbClr val="E9E7E2"/>
              </a:solidFill>
              <a:latin typeface="Inter"/>
              <a:ea typeface="Inter"/>
              <a:cs typeface="Inter"/>
              <a:sym typeface="Inter"/>
            </a:endParaRPr>
          </a:p>
        </p:txBody>
      </p:sp>
      <p:sp>
        <p:nvSpPr>
          <p:cNvPr id="227" name="Google Shape;227;p21"/>
          <p:cNvSpPr/>
          <p:nvPr/>
        </p:nvSpPr>
        <p:spPr>
          <a:xfrm>
            <a:off x="1778000" y="26162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8" name="Google Shape;228;p21"/>
          <p:cNvSpPr txBox="1"/>
          <p:nvPr/>
        </p:nvSpPr>
        <p:spPr>
          <a:xfrm>
            <a:off x="1778000" y="2768600"/>
            <a:ext cx="13971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HIGH VOLUME</a:t>
            </a:r>
            <a:endParaRPr sz="800">
              <a:solidFill>
                <a:srgbClr val="5FCFAE"/>
              </a:solidFill>
              <a:latin typeface="Roboto Mono"/>
              <a:ea typeface="Roboto Mono"/>
              <a:cs typeface="Roboto Mono"/>
              <a:sym typeface="Roboto Mono"/>
            </a:endParaRPr>
          </a:p>
        </p:txBody>
      </p:sp>
      <p:sp>
        <p:nvSpPr>
          <p:cNvPr id="229" name="Google Shape;229;p21"/>
          <p:cNvSpPr txBox="1"/>
          <p:nvPr/>
        </p:nvSpPr>
        <p:spPr>
          <a:xfrm>
            <a:off x="3251200" y="2743200"/>
            <a:ext cx="5283300" cy="431700"/>
          </a:xfrm>
          <a:prstGeom prst="rect">
            <a:avLst/>
          </a:prstGeom>
          <a:noFill/>
          <a:ln>
            <a:noFill/>
          </a:ln>
        </p:spPr>
        <p:txBody>
          <a:bodyPr anchorCtr="0" anchor="t" bIns="91425" lIns="91425" spcFirstLastPara="1" rIns="91425" wrap="square" tIns="91425">
            <a:noAutofit/>
          </a:bodyPr>
          <a:lstStyle/>
          <a:p>
            <a:pPr indent="0" lvl="0" marL="0" rtl="0" algn="l">
              <a:lnSpc>
                <a:spcPct val="108000"/>
              </a:lnSpc>
              <a:spcBef>
                <a:spcPts val="0"/>
              </a:spcBef>
              <a:spcAft>
                <a:spcPts val="0"/>
              </a:spcAft>
              <a:buNone/>
            </a:pPr>
            <a:r>
              <a:rPr lang="en" sz="950">
                <a:solidFill>
                  <a:srgbClr val="E9E7E2"/>
                </a:solidFill>
                <a:latin typeface="Inter"/>
                <a:ea typeface="Inter"/>
                <a:cs typeface="Inter"/>
                <a:sym typeface="Inter"/>
              </a:rPr>
              <a:t>Cheap method first, judge only the uncertain answers. The same accuracy for 18% less.</a:t>
            </a:r>
            <a:endParaRPr sz="950">
              <a:solidFill>
                <a:srgbClr val="E9E7E2"/>
              </a:solidFill>
              <a:latin typeface="Inter"/>
              <a:ea typeface="Inter"/>
              <a:cs typeface="Inter"/>
              <a:sym typeface="Inter"/>
            </a:endParaRPr>
          </a:p>
        </p:txBody>
      </p:sp>
      <p:sp>
        <p:nvSpPr>
          <p:cNvPr id="230" name="Google Shape;230;p21"/>
          <p:cNvSpPr/>
          <p:nvPr/>
        </p:nvSpPr>
        <p:spPr>
          <a:xfrm>
            <a:off x="1778000" y="32258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21"/>
          <p:cNvSpPr txBox="1"/>
          <p:nvPr/>
        </p:nvSpPr>
        <p:spPr>
          <a:xfrm>
            <a:off x="1778000" y="3378200"/>
            <a:ext cx="1397100" cy="20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5FCFAE"/>
                </a:solidFill>
                <a:latin typeface="Roboto Mono"/>
                <a:ea typeface="Roboto Mono"/>
                <a:cs typeface="Roboto Mono"/>
                <a:sym typeface="Roboto Mono"/>
              </a:rPr>
              <a:t>THE EXACT WORDS</a:t>
            </a:r>
            <a:endParaRPr sz="800">
              <a:solidFill>
                <a:srgbClr val="5FCFAE"/>
              </a:solidFill>
              <a:latin typeface="Roboto Mono"/>
              <a:ea typeface="Roboto Mono"/>
              <a:cs typeface="Roboto Mono"/>
              <a:sym typeface="Roboto Mono"/>
            </a:endParaRPr>
          </a:p>
        </p:txBody>
      </p:sp>
      <p:sp>
        <p:nvSpPr>
          <p:cNvPr id="232" name="Google Shape;232;p21"/>
          <p:cNvSpPr txBox="1"/>
          <p:nvPr/>
        </p:nvSpPr>
        <p:spPr>
          <a:xfrm>
            <a:off x="3251200" y="3352800"/>
            <a:ext cx="5283300" cy="431700"/>
          </a:xfrm>
          <a:prstGeom prst="rect">
            <a:avLst/>
          </a:prstGeom>
          <a:noFill/>
          <a:ln>
            <a:noFill/>
          </a:ln>
        </p:spPr>
        <p:txBody>
          <a:bodyPr anchorCtr="0" anchor="t" bIns="91425" lIns="91425" spcFirstLastPara="1" rIns="91425" wrap="square" tIns="91425">
            <a:noAutofit/>
          </a:bodyPr>
          <a:lstStyle/>
          <a:p>
            <a:pPr indent="0" lvl="0" marL="0" rtl="0" algn="l">
              <a:lnSpc>
                <a:spcPct val="108000"/>
              </a:lnSpc>
              <a:spcBef>
                <a:spcPts val="0"/>
              </a:spcBef>
              <a:spcAft>
                <a:spcPts val="0"/>
              </a:spcAft>
              <a:buNone/>
            </a:pPr>
            <a:r>
              <a:rPr lang="en" sz="950">
                <a:solidFill>
                  <a:srgbClr val="E9E7E2"/>
                </a:solidFill>
                <a:latin typeface="Inter"/>
                <a:ea typeface="Inter"/>
                <a:cs typeface="Inter"/>
                <a:sym typeface="Inter"/>
              </a:rPr>
              <a:t>None of them today. The judge describes what it doubts, it does not quote it.</a:t>
            </a:r>
            <a:endParaRPr sz="950">
              <a:solidFill>
                <a:srgbClr val="E9E7E2"/>
              </a:solidFill>
              <a:latin typeface="Inter"/>
              <a:ea typeface="Inter"/>
              <a:cs typeface="Inter"/>
              <a:sym typeface="Inter"/>
            </a:endParaRPr>
          </a:p>
        </p:txBody>
      </p:sp>
      <p:sp>
        <p:nvSpPr>
          <p:cNvPr id="233" name="Google Shape;233;p21"/>
          <p:cNvSpPr/>
          <p:nvPr/>
        </p:nvSpPr>
        <p:spPr>
          <a:xfrm>
            <a:off x="1778000" y="3835400"/>
            <a:ext cx="6756300" cy="9600"/>
          </a:xfrm>
          <a:prstGeom prst="rect">
            <a:avLst/>
          </a:prstGeom>
          <a:solidFill>
            <a:srgbClr val="3039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21"/>
          <p:cNvSpPr txBox="1"/>
          <p:nvPr/>
        </p:nvSpPr>
        <p:spPr>
          <a:xfrm>
            <a:off x="1778000" y="3987800"/>
            <a:ext cx="17781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u="sng">
                <a:solidFill>
                  <a:schemeClr val="hlink"/>
                </a:solidFill>
                <a:latin typeface="Roboto Mono"/>
                <a:ea typeface="Roboto Mono"/>
                <a:cs typeface="Roboto Mono"/>
                <a:sym typeface="Roboto Mono"/>
                <a:hlinkClick r:id="rId3"/>
              </a:rPr>
              <a:t>LIVE DEMO →</a:t>
            </a:r>
            <a:endParaRPr sz="900">
              <a:solidFill>
                <a:srgbClr val="5FCFAE"/>
              </a:solidFill>
              <a:latin typeface="Roboto Mono"/>
              <a:ea typeface="Roboto Mono"/>
              <a:cs typeface="Roboto Mono"/>
              <a:sym typeface="Roboto Mono"/>
            </a:endParaRPr>
          </a:p>
        </p:txBody>
      </p:sp>
      <p:sp>
        <p:nvSpPr>
          <p:cNvPr id="235" name="Google Shape;235;p21"/>
          <p:cNvSpPr txBox="1"/>
          <p:nvPr/>
        </p:nvSpPr>
        <p:spPr>
          <a:xfrm>
            <a:off x="3683000" y="3987800"/>
            <a:ext cx="19050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u="sng">
                <a:solidFill>
                  <a:schemeClr val="hlink"/>
                </a:solidFill>
                <a:latin typeface="Roboto Mono"/>
                <a:ea typeface="Roboto Mono"/>
                <a:cs typeface="Roboto Mono"/>
                <a:sym typeface="Roboto Mono"/>
                <a:hlinkClick r:id="rId4"/>
              </a:rPr>
              <a:t>SOURCE CODE →</a:t>
            </a:r>
            <a:endParaRPr sz="900">
              <a:solidFill>
                <a:srgbClr val="5FCFAE"/>
              </a:solidFill>
              <a:latin typeface="Roboto Mono"/>
              <a:ea typeface="Roboto Mono"/>
              <a:cs typeface="Roboto Mono"/>
              <a:sym typeface="Roboto Mono"/>
            </a:endParaRPr>
          </a:p>
        </p:txBody>
      </p:sp>
      <p:sp>
        <p:nvSpPr>
          <p:cNvPr id="236" name="Google Shape;236;p21"/>
          <p:cNvSpPr txBox="1"/>
          <p:nvPr/>
        </p:nvSpPr>
        <p:spPr>
          <a:xfrm>
            <a:off x="5842000" y="3987800"/>
            <a:ext cx="19050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u="sng">
                <a:solidFill>
                  <a:schemeClr val="hlink"/>
                </a:solidFill>
                <a:latin typeface="Roboto Mono"/>
                <a:ea typeface="Roboto Mono"/>
                <a:cs typeface="Roboto Mono"/>
                <a:sym typeface="Roboto Mono"/>
                <a:hlinkClick r:id="rId5"/>
              </a:rPr>
              <a:t>VIDEO →</a:t>
            </a:r>
            <a:endParaRPr sz="900">
              <a:solidFill>
                <a:srgbClr val="5FCFAE"/>
              </a:solidFill>
              <a:latin typeface="Roboto Mono"/>
              <a:ea typeface="Roboto Mono"/>
              <a:cs typeface="Roboto Mono"/>
              <a:sym typeface="Roboto Mon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